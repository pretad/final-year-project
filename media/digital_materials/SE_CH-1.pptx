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72" r:id="rId9"/>
    <p:sldId id="273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0" r:id="rId18"/>
    <p:sldId id="269" r:id="rId19"/>
    <p:sldId id="271" r:id="rId20"/>
    <p:sldId id="274" r:id="rId21"/>
    <p:sldId id="278" r:id="rId22"/>
    <p:sldId id="279" r:id="rId23"/>
    <p:sldId id="277" r:id="rId24"/>
    <p:sldId id="275" r:id="rId25"/>
    <p:sldId id="27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9532A9-6773-4285-AE36-819C5C782DC3}" type="doc">
      <dgm:prSet loTypeId="urn:microsoft.com/office/officeart/2005/8/layout/h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4139570-EA05-44E1-B6CF-989EFDEE00F6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017809AB-129F-4477-86EA-D15D52457A35}" cxnId="{C511B2EF-1011-40F2-9217-DB93DF9D8500}" type="parTrans">
      <dgm:prSet/>
      <dgm:spPr/>
      <dgm:t>
        <a:bodyPr/>
        <a:lstStyle/>
        <a:p>
          <a:endParaRPr lang="en-US"/>
        </a:p>
      </dgm:t>
    </dgm:pt>
    <dgm:pt modelId="{944947D3-99B8-4BDD-8812-E14BBA909DC3}" cxnId="{C511B2EF-1011-40F2-9217-DB93DF9D8500}" type="sibTrans">
      <dgm:prSet/>
      <dgm:spPr/>
      <dgm:t>
        <a:bodyPr/>
        <a:lstStyle/>
        <a:p>
          <a:endParaRPr lang="en-US"/>
        </a:p>
      </dgm:t>
    </dgm:pt>
    <dgm:pt modelId="{9F1F6A81-DAC3-433F-831E-59B01D54CD40}">
      <dgm:prSet phldrT="[Text]"/>
      <dgm:spPr/>
      <dgm:t>
        <a:bodyPr/>
        <a:lstStyle/>
        <a:p>
          <a:r>
            <a:rPr lang="en-US" dirty="0"/>
            <a:t>Analysis</a:t>
          </a:r>
        </a:p>
      </dgm:t>
    </dgm:pt>
    <dgm:pt modelId="{5BB07965-70DA-4753-9A81-A6EF09A1FF1C}" cxnId="{B61050D9-2992-4BE5-AE28-DDCCB4DF1038}" type="parTrans">
      <dgm:prSet/>
      <dgm:spPr/>
      <dgm:t>
        <a:bodyPr/>
        <a:lstStyle/>
        <a:p>
          <a:endParaRPr lang="en-US"/>
        </a:p>
      </dgm:t>
    </dgm:pt>
    <dgm:pt modelId="{58FCEAA9-F857-4160-8460-27E44FD4CE1D}" cxnId="{B61050D9-2992-4BE5-AE28-DDCCB4DF1038}" type="sibTrans">
      <dgm:prSet/>
      <dgm:spPr/>
      <dgm:t>
        <a:bodyPr/>
        <a:lstStyle/>
        <a:p>
          <a:endParaRPr lang="en-US"/>
        </a:p>
      </dgm:t>
    </dgm:pt>
    <dgm:pt modelId="{C7798480-DD0E-4BA8-9555-C43026574EC9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28736AE8-6AA9-4962-A16B-97431FA3DF7F}" cxnId="{7E0254F2-71BC-48CB-B7EC-F17FB958A42F}" type="parTrans">
      <dgm:prSet/>
      <dgm:spPr/>
      <dgm:t>
        <a:bodyPr/>
        <a:lstStyle/>
        <a:p>
          <a:endParaRPr lang="en-US"/>
        </a:p>
      </dgm:t>
    </dgm:pt>
    <dgm:pt modelId="{B173ECE3-9EB9-4B18-8327-87F7A188F445}" cxnId="{7E0254F2-71BC-48CB-B7EC-F17FB958A42F}" type="sibTrans">
      <dgm:prSet/>
      <dgm:spPr/>
      <dgm:t>
        <a:bodyPr/>
        <a:lstStyle/>
        <a:p>
          <a:endParaRPr lang="en-US"/>
        </a:p>
      </dgm:t>
    </dgm:pt>
    <dgm:pt modelId="{699880E7-99A7-4F08-B94E-8E78635B38D6}">
      <dgm:prSet phldrT="[Text]"/>
      <dgm:spPr/>
      <dgm:t>
        <a:bodyPr/>
        <a:lstStyle/>
        <a:p>
          <a:r>
            <a:rPr lang="en-US" dirty="0"/>
            <a:t>Design</a:t>
          </a:r>
        </a:p>
      </dgm:t>
    </dgm:pt>
    <dgm:pt modelId="{3051628A-2166-4F92-80FC-8E06EB6CE2B6}" cxnId="{C16740DE-2F4A-4CBD-A736-EAC896811602}" type="parTrans">
      <dgm:prSet/>
      <dgm:spPr/>
      <dgm:t>
        <a:bodyPr/>
        <a:lstStyle/>
        <a:p>
          <a:endParaRPr lang="en-US"/>
        </a:p>
      </dgm:t>
    </dgm:pt>
    <dgm:pt modelId="{AD7D24CF-C697-417B-941F-DDB8600AE973}" cxnId="{C16740DE-2F4A-4CBD-A736-EAC896811602}" type="sibTrans">
      <dgm:prSet/>
      <dgm:spPr/>
      <dgm:t>
        <a:bodyPr/>
        <a:lstStyle/>
        <a:p>
          <a:endParaRPr lang="en-US"/>
        </a:p>
      </dgm:t>
    </dgm:pt>
    <dgm:pt modelId="{1F2641A9-1272-4BE8-A141-694B3260F068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BB495D36-324E-4AAA-A3F2-2448691859C8}" cxnId="{F29B33E7-8B0B-48EB-9D16-6DF83FDCC5BE}" type="parTrans">
      <dgm:prSet/>
      <dgm:spPr/>
      <dgm:t>
        <a:bodyPr/>
        <a:lstStyle/>
        <a:p>
          <a:endParaRPr lang="en-US"/>
        </a:p>
      </dgm:t>
    </dgm:pt>
    <dgm:pt modelId="{F7A0A696-1D98-4DC7-8FD2-887CBFAE6B01}" cxnId="{F29B33E7-8B0B-48EB-9D16-6DF83FDCC5BE}" type="sibTrans">
      <dgm:prSet/>
      <dgm:spPr/>
      <dgm:t>
        <a:bodyPr/>
        <a:lstStyle/>
        <a:p>
          <a:endParaRPr lang="en-US"/>
        </a:p>
      </dgm:t>
    </dgm:pt>
    <dgm:pt modelId="{C6511628-0798-4399-9B07-7129DF3011C5}">
      <dgm:prSet phldrT="[Text]"/>
      <dgm:spPr/>
      <dgm:t>
        <a:bodyPr/>
        <a:lstStyle/>
        <a:p>
          <a:r>
            <a:rPr lang="en-US" dirty="0"/>
            <a:t>Coding</a:t>
          </a:r>
        </a:p>
      </dgm:t>
    </dgm:pt>
    <dgm:pt modelId="{E77C175C-9169-413A-B164-785FCC54A3C0}" cxnId="{6B4EF232-E5C2-4D6A-82A0-73BBD444FC72}" type="parTrans">
      <dgm:prSet/>
      <dgm:spPr/>
      <dgm:t>
        <a:bodyPr/>
        <a:lstStyle/>
        <a:p>
          <a:endParaRPr lang="en-US"/>
        </a:p>
      </dgm:t>
    </dgm:pt>
    <dgm:pt modelId="{BE01E8A3-7C50-438C-A658-3B2B39002010}" cxnId="{6B4EF232-E5C2-4D6A-82A0-73BBD444FC72}" type="sibTrans">
      <dgm:prSet/>
      <dgm:spPr/>
      <dgm:t>
        <a:bodyPr/>
        <a:lstStyle/>
        <a:p>
          <a:endParaRPr lang="en-US"/>
        </a:p>
      </dgm:t>
    </dgm:pt>
    <dgm:pt modelId="{548641DB-AE06-4F20-8EA7-A7993884B144}">
      <dgm:prSet phldrT="[Text]"/>
      <dgm:spPr/>
      <dgm:t>
        <a:bodyPr/>
        <a:lstStyle/>
        <a:p>
          <a:r>
            <a:rPr lang="en-US" dirty="0"/>
            <a:t>Planning</a:t>
          </a:r>
        </a:p>
      </dgm:t>
    </dgm:pt>
    <dgm:pt modelId="{A3CE2BC9-4DA5-4AB8-958D-F152A68092CA}" cxnId="{8F17EC2E-D05B-45A9-8801-68FCE410870A}" type="sibTrans">
      <dgm:prSet/>
      <dgm:spPr/>
      <dgm:t>
        <a:bodyPr/>
        <a:lstStyle/>
        <a:p>
          <a:endParaRPr lang="en-US"/>
        </a:p>
      </dgm:t>
    </dgm:pt>
    <dgm:pt modelId="{505B75FC-244E-4B6D-B9DE-E821D694D6FF}" cxnId="{8F17EC2E-D05B-45A9-8801-68FCE410870A}" type="parTrans">
      <dgm:prSet/>
      <dgm:spPr/>
      <dgm:t>
        <a:bodyPr/>
        <a:lstStyle/>
        <a:p>
          <a:endParaRPr lang="en-US"/>
        </a:p>
      </dgm:t>
    </dgm:pt>
    <dgm:pt modelId="{3ED5334B-DC9B-4072-B0F5-A3AF774EF411}">
      <dgm:prSet phldrT="[Text]"/>
      <dgm:spPr/>
      <dgm:t>
        <a:bodyPr/>
        <a:lstStyle/>
        <a:p>
          <a:r>
            <a:rPr lang="en-US" dirty="0"/>
            <a:t> </a:t>
          </a:r>
        </a:p>
      </dgm:t>
    </dgm:pt>
    <dgm:pt modelId="{2021FE8A-4CA4-4853-A560-CA0B8B92F1F9}" cxnId="{340E86A9-0DC2-4FBE-B220-4D13D89582C7}" type="sibTrans">
      <dgm:prSet/>
      <dgm:spPr/>
      <dgm:t>
        <a:bodyPr/>
        <a:lstStyle/>
        <a:p>
          <a:endParaRPr lang="en-US"/>
        </a:p>
      </dgm:t>
    </dgm:pt>
    <dgm:pt modelId="{55A4CCCA-4A37-4C0A-B5E8-F205994C25CE}" cxnId="{340E86A9-0DC2-4FBE-B220-4D13D89582C7}" type="parTrans">
      <dgm:prSet/>
      <dgm:spPr/>
      <dgm:t>
        <a:bodyPr/>
        <a:lstStyle/>
        <a:p>
          <a:endParaRPr lang="en-US"/>
        </a:p>
      </dgm:t>
    </dgm:pt>
    <dgm:pt modelId="{9E31370E-3453-46E0-831E-2949291A8F5D}" type="pres">
      <dgm:prSet presAssocID="{FD9532A9-6773-4285-AE36-819C5C782DC3}" presName="linearFlow" presStyleCnt="0">
        <dgm:presLayoutVars>
          <dgm:dir/>
          <dgm:animLvl val="lvl"/>
          <dgm:resizeHandles/>
        </dgm:presLayoutVars>
      </dgm:prSet>
      <dgm:spPr/>
    </dgm:pt>
    <dgm:pt modelId="{16AD5420-C489-40A7-9E1B-98F621CCBF82}" type="pres">
      <dgm:prSet presAssocID="{3ED5334B-DC9B-4072-B0F5-A3AF774EF411}" presName="compositeNode" presStyleCnt="0">
        <dgm:presLayoutVars>
          <dgm:bulletEnabled val="1"/>
        </dgm:presLayoutVars>
      </dgm:prSet>
      <dgm:spPr/>
    </dgm:pt>
    <dgm:pt modelId="{F537DC46-DB68-4AF9-809A-3FC2427538A7}" type="pres">
      <dgm:prSet presAssocID="{3ED5334B-DC9B-4072-B0F5-A3AF774EF411}" presName="image" presStyleLbl="fgImgPlace1" presStyleIdx="0" presStyleCnt="4" custScaleX="221404" custScaleY="249081" custLinFactX="-19236" custLinFactNeighborX="-100000" custLinFactNeighborY="5259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EA935FB9-BDC7-4A00-9EED-F76069156DE4}" type="pres">
      <dgm:prSet presAssocID="{3ED5334B-DC9B-4072-B0F5-A3AF774EF411}" presName="childNode" presStyleLbl="node1" presStyleIdx="0" presStyleCnt="4">
        <dgm:presLayoutVars>
          <dgm:bulletEnabled val="1"/>
        </dgm:presLayoutVars>
      </dgm:prSet>
      <dgm:spPr/>
    </dgm:pt>
    <dgm:pt modelId="{37B6EE23-67C6-4024-8BE6-15F18A26CE39}" type="pres">
      <dgm:prSet presAssocID="{3ED5334B-DC9B-4072-B0F5-A3AF774EF411}" presName="parentNode" presStyleLbl="revTx" presStyleIdx="0" presStyleCnt="4">
        <dgm:presLayoutVars>
          <dgm:chMax val="0"/>
          <dgm:bulletEnabled val="1"/>
        </dgm:presLayoutVars>
      </dgm:prSet>
      <dgm:spPr/>
    </dgm:pt>
    <dgm:pt modelId="{B09763EA-DE45-4254-B708-CAA1A2961C24}" type="pres">
      <dgm:prSet presAssocID="{2021FE8A-4CA4-4853-A560-CA0B8B92F1F9}" presName="sibTrans" presStyleCnt="0"/>
      <dgm:spPr/>
    </dgm:pt>
    <dgm:pt modelId="{56E1D3DD-D937-4A7D-8E9C-F0FA28DCE215}" type="pres">
      <dgm:prSet presAssocID="{94139570-EA05-44E1-B6CF-989EFDEE00F6}" presName="compositeNode" presStyleCnt="0">
        <dgm:presLayoutVars>
          <dgm:bulletEnabled val="1"/>
        </dgm:presLayoutVars>
      </dgm:prSet>
      <dgm:spPr/>
    </dgm:pt>
    <dgm:pt modelId="{EC13E4B6-F4CD-4AEC-A1F3-D11A8370285B}" type="pres">
      <dgm:prSet presAssocID="{94139570-EA05-44E1-B6CF-989EFDEE00F6}" presName="image" presStyleLbl="fgImgPlace1" presStyleIdx="1" presStyleCnt="4" custScaleX="193730" custScaleY="249081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1DA54378-0350-4A37-938D-0F516BF76F01}" type="pres">
      <dgm:prSet presAssocID="{94139570-EA05-44E1-B6CF-989EFDEE00F6}" presName="childNode" presStyleLbl="node1" presStyleIdx="1" presStyleCnt="4">
        <dgm:presLayoutVars>
          <dgm:bulletEnabled val="1"/>
        </dgm:presLayoutVars>
      </dgm:prSet>
      <dgm:spPr/>
    </dgm:pt>
    <dgm:pt modelId="{9BAF6932-2E93-4D57-98AC-1D6C9F5DBBB0}" type="pres">
      <dgm:prSet presAssocID="{94139570-EA05-44E1-B6CF-989EFDEE00F6}" presName="parentNode" presStyleLbl="revTx" presStyleIdx="1" presStyleCnt="4">
        <dgm:presLayoutVars>
          <dgm:chMax val="0"/>
          <dgm:bulletEnabled val="1"/>
        </dgm:presLayoutVars>
      </dgm:prSet>
      <dgm:spPr/>
    </dgm:pt>
    <dgm:pt modelId="{615CF755-425E-470B-942F-8DF92E3BB464}" type="pres">
      <dgm:prSet presAssocID="{944947D3-99B8-4BDD-8812-E14BBA909DC3}" presName="sibTrans" presStyleCnt="0"/>
      <dgm:spPr/>
    </dgm:pt>
    <dgm:pt modelId="{4C030AA9-2BEA-49BB-8F76-75488A1E9EAF}" type="pres">
      <dgm:prSet presAssocID="{C7798480-DD0E-4BA8-9555-C43026574EC9}" presName="compositeNode" presStyleCnt="0">
        <dgm:presLayoutVars>
          <dgm:bulletEnabled val="1"/>
        </dgm:presLayoutVars>
      </dgm:prSet>
      <dgm:spPr/>
    </dgm:pt>
    <dgm:pt modelId="{508541A4-8D2D-4C1E-8353-3E3ADCC05CB3}" type="pres">
      <dgm:prSet presAssocID="{C7798480-DD0E-4BA8-9555-C43026574EC9}" presName="image" presStyleLbl="fgImgPlace1" presStyleIdx="2" presStyleCnt="4" custScaleX="221404" custScaleY="249081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013CFB61-3E09-4A2A-AF90-A011F953CE75}" type="pres">
      <dgm:prSet presAssocID="{C7798480-DD0E-4BA8-9555-C43026574EC9}" presName="childNode" presStyleLbl="node1" presStyleIdx="2" presStyleCnt="4">
        <dgm:presLayoutVars>
          <dgm:bulletEnabled val="1"/>
        </dgm:presLayoutVars>
      </dgm:prSet>
      <dgm:spPr/>
    </dgm:pt>
    <dgm:pt modelId="{320EC8ED-DB98-4B20-A5FE-B20B83B35C87}" type="pres">
      <dgm:prSet presAssocID="{C7798480-DD0E-4BA8-9555-C43026574EC9}" presName="parentNode" presStyleLbl="revTx" presStyleIdx="2" presStyleCnt="4">
        <dgm:presLayoutVars>
          <dgm:chMax val="0"/>
          <dgm:bulletEnabled val="1"/>
        </dgm:presLayoutVars>
      </dgm:prSet>
      <dgm:spPr/>
    </dgm:pt>
    <dgm:pt modelId="{32B363D3-AEFC-4B10-AE62-0C3BD204B3EA}" type="pres">
      <dgm:prSet presAssocID="{B173ECE3-9EB9-4B18-8327-87F7A188F445}" presName="sibTrans" presStyleCnt="0"/>
      <dgm:spPr/>
    </dgm:pt>
    <dgm:pt modelId="{16249AD7-EA6B-4FE3-9935-0043265B9E39}" type="pres">
      <dgm:prSet presAssocID="{1F2641A9-1272-4BE8-A141-694B3260F068}" presName="compositeNode" presStyleCnt="0">
        <dgm:presLayoutVars>
          <dgm:bulletEnabled val="1"/>
        </dgm:presLayoutVars>
      </dgm:prSet>
      <dgm:spPr/>
    </dgm:pt>
    <dgm:pt modelId="{A5278B5D-15ED-4B8E-8BD7-4D3FFE025A37}" type="pres">
      <dgm:prSet presAssocID="{1F2641A9-1272-4BE8-A141-694B3260F068}" presName="image" presStyleLbl="fgImgPlace1" presStyleIdx="3" presStyleCnt="4" custScaleX="221404" custScaleY="249081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3F990B16-C139-4D43-ABF8-9B7062B506D3}" type="pres">
      <dgm:prSet presAssocID="{1F2641A9-1272-4BE8-A141-694B3260F068}" presName="childNode" presStyleLbl="node1" presStyleIdx="3" presStyleCnt="4">
        <dgm:presLayoutVars>
          <dgm:bulletEnabled val="1"/>
        </dgm:presLayoutVars>
      </dgm:prSet>
      <dgm:spPr/>
    </dgm:pt>
    <dgm:pt modelId="{590DA148-71DB-41F4-972D-BB75FDF55258}" type="pres">
      <dgm:prSet presAssocID="{1F2641A9-1272-4BE8-A141-694B3260F068}" presName="parentNode" presStyleLbl="revTx" presStyleIdx="3" presStyleCnt="4">
        <dgm:presLayoutVars>
          <dgm:chMax val="0"/>
          <dgm:bulletEnabled val="1"/>
        </dgm:presLayoutVars>
      </dgm:prSet>
      <dgm:spPr/>
    </dgm:pt>
  </dgm:ptLst>
  <dgm:cxnLst>
    <dgm:cxn modelId="{27F2AB18-6F1B-436A-A623-7C62481F6313}" type="presOf" srcId="{1F2641A9-1272-4BE8-A141-694B3260F068}" destId="{590DA148-71DB-41F4-972D-BB75FDF55258}" srcOrd="0" destOrd="0" presId="urn:microsoft.com/office/officeart/2005/8/layout/hList2"/>
    <dgm:cxn modelId="{8F17EC2E-D05B-45A9-8801-68FCE410870A}" srcId="{3ED5334B-DC9B-4072-B0F5-A3AF774EF411}" destId="{548641DB-AE06-4F20-8EA7-A7993884B144}" srcOrd="0" destOrd="0" parTransId="{505B75FC-244E-4B6D-B9DE-E821D694D6FF}" sibTransId="{A3CE2BC9-4DA5-4AB8-958D-F152A68092CA}"/>
    <dgm:cxn modelId="{6B4EF232-E5C2-4D6A-82A0-73BBD444FC72}" srcId="{1F2641A9-1272-4BE8-A141-694B3260F068}" destId="{C6511628-0798-4399-9B07-7129DF3011C5}" srcOrd="0" destOrd="0" parTransId="{E77C175C-9169-413A-B164-785FCC54A3C0}" sibTransId="{BE01E8A3-7C50-438C-A658-3B2B39002010}"/>
    <dgm:cxn modelId="{B010353A-833E-47A1-A4DF-04C2A51BECBB}" type="presOf" srcId="{548641DB-AE06-4F20-8EA7-A7993884B144}" destId="{EA935FB9-BDC7-4A00-9EED-F76069156DE4}" srcOrd="0" destOrd="0" presId="urn:microsoft.com/office/officeart/2005/8/layout/hList2"/>
    <dgm:cxn modelId="{AA999F64-A747-42D7-AECA-C297FBD5537E}" type="presOf" srcId="{FD9532A9-6773-4285-AE36-819C5C782DC3}" destId="{9E31370E-3453-46E0-831E-2949291A8F5D}" srcOrd="0" destOrd="0" presId="urn:microsoft.com/office/officeart/2005/8/layout/hList2"/>
    <dgm:cxn modelId="{25C56269-5A99-454C-8DDF-93148770A27C}" type="presOf" srcId="{C6511628-0798-4399-9B07-7129DF3011C5}" destId="{3F990B16-C139-4D43-ABF8-9B7062B506D3}" srcOrd="0" destOrd="0" presId="urn:microsoft.com/office/officeart/2005/8/layout/hList2"/>
    <dgm:cxn modelId="{75373E71-E1F4-4D50-8A26-C0AFB7B68265}" type="presOf" srcId="{699880E7-99A7-4F08-B94E-8E78635B38D6}" destId="{013CFB61-3E09-4A2A-AF90-A011F953CE75}" srcOrd="0" destOrd="0" presId="urn:microsoft.com/office/officeart/2005/8/layout/hList2"/>
    <dgm:cxn modelId="{9278A373-9748-456E-A7B8-04B5E19E1EC1}" type="presOf" srcId="{94139570-EA05-44E1-B6CF-989EFDEE00F6}" destId="{9BAF6932-2E93-4D57-98AC-1D6C9F5DBBB0}" srcOrd="0" destOrd="0" presId="urn:microsoft.com/office/officeart/2005/8/layout/hList2"/>
    <dgm:cxn modelId="{BB9FE953-4564-424D-B2BE-7519528773EC}" type="presOf" srcId="{3ED5334B-DC9B-4072-B0F5-A3AF774EF411}" destId="{37B6EE23-67C6-4024-8BE6-15F18A26CE39}" srcOrd="0" destOrd="0" presId="urn:microsoft.com/office/officeart/2005/8/layout/hList2"/>
    <dgm:cxn modelId="{8F4BA77A-0A72-402E-8601-7A4189376A80}" type="presOf" srcId="{9F1F6A81-DAC3-433F-831E-59B01D54CD40}" destId="{1DA54378-0350-4A37-938D-0F516BF76F01}" srcOrd="0" destOrd="0" presId="urn:microsoft.com/office/officeart/2005/8/layout/hList2"/>
    <dgm:cxn modelId="{340E86A9-0DC2-4FBE-B220-4D13D89582C7}" srcId="{FD9532A9-6773-4285-AE36-819C5C782DC3}" destId="{3ED5334B-DC9B-4072-B0F5-A3AF774EF411}" srcOrd="0" destOrd="0" parTransId="{55A4CCCA-4A37-4C0A-B5E8-F205994C25CE}" sibTransId="{2021FE8A-4CA4-4853-A560-CA0B8B92F1F9}"/>
    <dgm:cxn modelId="{F8613CCF-DED0-4B48-9804-F804EB6CB16A}" type="presOf" srcId="{C7798480-DD0E-4BA8-9555-C43026574EC9}" destId="{320EC8ED-DB98-4B20-A5FE-B20B83B35C87}" srcOrd="0" destOrd="0" presId="urn:microsoft.com/office/officeart/2005/8/layout/hList2"/>
    <dgm:cxn modelId="{B61050D9-2992-4BE5-AE28-DDCCB4DF1038}" srcId="{94139570-EA05-44E1-B6CF-989EFDEE00F6}" destId="{9F1F6A81-DAC3-433F-831E-59B01D54CD40}" srcOrd="0" destOrd="0" parTransId="{5BB07965-70DA-4753-9A81-A6EF09A1FF1C}" sibTransId="{58FCEAA9-F857-4160-8460-27E44FD4CE1D}"/>
    <dgm:cxn modelId="{C16740DE-2F4A-4CBD-A736-EAC896811602}" srcId="{C7798480-DD0E-4BA8-9555-C43026574EC9}" destId="{699880E7-99A7-4F08-B94E-8E78635B38D6}" srcOrd="0" destOrd="0" parTransId="{3051628A-2166-4F92-80FC-8E06EB6CE2B6}" sibTransId="{AD7D24CF-C697-417B-941F-DDB8600AE973}"/>
    <dgm:cxn modelId="{F29B33E7-8B0B-48EB-9D16-6DF83FDCC5BE}" srcId="{FD9532A9-6773-4285-AE36-819C5C782DC3}" destId="{1F2641A9-1272-4BE8-A141-694B3260F068}" srcOrd="3" destOrd="0" parTransId="{BB495D36-324E-4AAA-A3F2-2448691859C8}" sibTransId="{F7A0A696-1D98-4DC7-8FD2-887CBFAE6B01}"/>
    <dgm:cxn modelId="{C511B2EF-1011-40F2-9217-DB93DF9D8500}" srcId="{FD9532A9-6773-4285-AE36-819C5C782DC3}" destId="{94139570-EA05-44E1-B6CF-989EFDEE00F6}" srcOrd="1" destOrd="0" parTransId="{017809AB-129F-4477-86EA-D15D52457A35}" sibTransId="{944947D3-99B8-4BDD-8812-E14BBA909DC3}"/>
    <dgm:cxn modelId="{7E0254F2-71BC-48CB-B7EC-F17FB958A42F}" srcId="{FD9532A9-6773-4285-AE36-819C5C782DC3}" destId="{C7798480-DD0E-4BA8-9555-C43026574EC9}" srcOrd="2" destOrd="0" parTransId="{28736AE8-6AA9-4962-A16B-97431FA3DF7F}" sibTransId="{B173ECE3-9EB9-4B18-8327-87F7A188F445}"/>
    <dgm:cxn modelId="{D4CCFC1E-4EF5-4F39-AFE4-E66BB16E211B}" type="presParOf" srcId="{9E31370E-3453-46E0-831E-2949291A8F5D}" destId="{16AD5420-C489-40A7-9E1B-98F621CCBF82}" srcOrd="0" destOrd="0" presId="urn:microsoft.com/office/officeart/2005/8/layout/hList2"/>
    <dgm:cxn modelId="{EFF6CC34-9CA0-4FAA-9BE5-6921650A54E4}" type="presParOf" srcId="{16AD5420-C489-40A7-9E1B-98F621CCBF82}" destId="{F537DC46-DB68-4AF9-809A-3FC2427538A7}" srcOrd="0" destOrd="0" presId="urn:microsoft.com/office/officeart/2005/8/layout/hList2"/>
    <dgm:cxn modelId="{6D978830-7B3D-486B-96C2-4BA68616E45A}" type="presParOf" srcId="{16AD5420-C489-40A7-9E1B-98F621CCBF82}" destId="{EA935FB9-BDC7-4A00-9EED-F76069156DE4}" srcOrd="1" destOrd="0" presId="urn:microsoft.com/office/officeart/2005/8/layout/hList2"/>
    <dgm:cxn modelId="{E8D870A8-6058-4C8C-8B9E-24D1F3F02582}" type="presParOf" srcId="{16AD5420-C489-40A7-9E1B-98F621CCBF82}" destId="{37B6EE23-67C6-4024-8BE6-15F18A26CE39}" srcOrd="2" destOrd="0" presId="urn:microsoft.com/office/officeart/2005/8/layout/hList2"/>
    <dgm:cxn modelId="{51F97920-B5FA-4755-ACCF-5A6518DA58D3}" type="presParOf" srcId="{9E31370E-3453-46E0-831E-2949291A8F5D}" destId="{B09763EA-DE45-4254-B708-CAA1A2961C24}" srcOrd="1" destOrd="0" presId="urn:microsoft.com/office/officeart/2005/8/layout/hList2"/>
    <dgm:cxn modelId="{5896FD12-52B3-4213-8CEA-24BE7A6082C3}" type="presParOf" srcId="{9E31370E-3453-46E0-831E-2949291A8F5D}" destId="{56E1D3DD-D937-4A7D-8E9C-F0FA28DCE215}" srcOrd="2" destOrd="0" presId="urn:microsoft.com/office/officeart/2005/8/layout/hList2"/>
    <dgm:cxn modelId="{D27568BE-F170-4844-B2E3-3187BB4CBAB4}" type="presParOf" srcId="{56E1D3DD-D937-4A7D-8E9C-F0FA28DCE215}" destId="{EC13E4B6-F4CD-4AEC-A1F3-D11A8370285B}" srcOrd="0" destOrd="0" presId="urn:microsoft.com/office/officeart/2005/8/layout/hList2"/>
    <dgm:cxn modelId="{6123D94B-0AC9-4B26-826D-FB945843F419}" type="presParOf" srcId="{56E1D3DD-D937-4A7D-8E9C-F0FA28DCE215}" destId="{1DA54378-0350-4A37-938D-0F516BF76F01}" srcOrd="1" destOrd="0" presId="urn:microsoft.com/office/officeart/2005/8/layout/hList2"/>
    <dgm:cxn modelId="{2A2385EB-176B-4633-9B61-522936202BA6}" type="presParOf" srcId="{56E1D3DD-D937-4A7D-8E9C-F0FA28DCE215}" destId="{9BAF6932-2E93-4D57-98AC-1D6C9F5DBBB0}" srcOrd="2" destOrd="0" presId="urn:microsoft.com/office/officeart/2005/8/layout/hList2"/>
    <dgm:cxn modelId="{4276FFE4-4AC2-4CC4-B779-78B5A3D64848}" type="presParOf" srcId="{9E31370E-3453-46E0-831E-2949291A8F5D}" destId="{615CF755-425E-470B-942F-8DF92E3BB464}" srcOrd="3" destOrd="0" presId="urn:microsoft.com/office/officeart/2005/8/layout/hList2"/>
    <dgm:cxn modelId="{71C6347E-700C-4A38-A504-464598D9C601}" type="presParOf" srcId="{9E31370E-3453-46E0-831E-2949291A8F5D}" destId="{4C030AA9-2BEA-49BB-8F76-75488A1E9EAF}" srcOrd="4" destOrd="0" presId="urn:microsoft.com/office/officeart/2005/8/layout/hList2"/>
    <dgm:cxn modelId="{97DC4FC1-3065-4C31-A1CA-E9B893343C47}" type="presParOf" srcId="{4C030AA9-2BEA-49BB-8F76-75488A1E9EAF}" destId="{508541A4-8D2D-4C1E-8353-3E3ADCC05CB3}" srcOrd="0" destOrd="0" presId="urn:microsoft.com/office/officeart/2005/8/layout/hList2"/>
    <dgm:cxn modelId="{E3F5B6F9-6307-4691-B8A5-FC06CA068574}" type="presParOf" srcId="{4C030AA9-2BEA-49BB-8F76-75488A1E9EAF}" destId="{013CFB61-3E09-4A2A-AF90-A011F953CE75}" srcOrd="1" destOrd="0" presId="urn:microsoft.com/office/officeart/2005/8/layout/hList2"/>
    <dgm:cxn modelId="{DA094680-A330-4C2F-AC44-6E2656F83B2D}" type="presParOf" srcId="{4C030AA9-2BEA-49BB-8F76-75488A1E9EAF}" destId="{320EC8ED-DB98-4B20-A5FE-B20B83B35C87}" srcOrd="2" destOrd="0" presId="urn:microsoft.com/office/officeart/2005/8/layout/hList2"/>
    <dgm:cxn modelId="{F5D29739-C4C9-4397-96D4-E943E2065EE0}" type="presParOf" srcId="{9E31370E-3453-46E0-831E-2949291A8F5D}" destId="{32B363D3-AEFC-4B10-AE62-0C3BD204B3EA}" srcOrd="5" destOrd="0" presId="urn:microsoft.com/office/officeart/2005/8/layout/hList2"/>
    <dgm:cxn modelId="{9AA99052-3A31-485E-A10F-F659BD6FB765}" type="presParOf" srcId="{9E31370E-3453-46E0-831E-2949291A8F5D}" destId="{16249AD7-EA6B-4FE3-9935-0043265B9E39}" srcOrd="6" destOrd="0" presId="urn:microsoft.com/office/officeart/2005/8/layout/hList2"/>
    <dgm:cxn modelId="{C35AE4FB-CB69-4C62-BDE1-6F1119B41964}" type="presParOf" srcId="{16249AD7-EA6B-4FE3-9935-0043265B9E39}" destId="{A5278B5D-15ED-4B8E-8BD7-4D3FFE025A37}" srcOrd="0" destOrd="0" presId="urn:microsoft.com/office/officeart/2005/8/layout/hList2"/>
    <dgm:cxn modelId="{966821CB-AAD7-46D6-BF5D-ABCCBB022AA0}" type="presParOf" srcId="{16249AD7-EA6B-4FE3-9935-0043265B9E39}" destId="{3F990B16-C139-4D43-ABF8-9B7062B506D3}" srcOrd="1" destOrd="0" presId="urn:microsoft.com/office/officeart/2005/8/layout/hList2"/>
    <dgm:cxn modelId="{22DD5B32-099F-414E-A5F5-D7EFFC860CBE}" type="presParOf" srcId="{16249AD7-EA6B-4FE3-9935-0043265B9E39}" destId="{590DA148-71DB-41F4-972D-BB75FDF55258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 1"/>
      <dsp:cNvGrpSpPr/>
    </dsp:nvGrpSpPr>
    <dsp:grpSpPr>
      <a:xfrm>
        <a:off x="0" y="0"/>
        <a:ext cx="10045010" cy="1001208"/>
        <a:chOff x="0" y="0"/>
        <a:chExt cx="10045010" cy="1001208"/>
      </a:xfrm>
    </dsp:grpSpPr>
    <dsp:sp modelId="{37B6EE23-67C6-4024-8BE6-15F18A26CE39}">
      <dsp:nvSpPr>
        <dsp:cNvPr id="5" name="Rectangles 4"/>
        <dsp:cNvSpPr/>
      </dsp:nvSpPr>
      <dsp:spPr bwMode="white">
        <a:xfrm rot="16200000">
          <a:off x="855088" y="620860"/>
          <a:ext cx="627876" cy="13282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259352" bIns="0" anchor="t"/>
        <a:lstStyle>
          <a:lvl1pPr algn="r">
            <a:defRPr sz="800"/>
          </a:lvl1pPr>
          <a:lvl2pPr marL="57150" indent="-57150" algn="r">
            <a:defRPr sz="600"/>
          </a:lvl2pPr>
          <a:lvl3pPr marL="114300" indent="-57150" algn="r">
            <a:defRPr sz="600"/>
          </a:lvl3pPr>
          <a:lvl4pPr marL="171450" indent="-57150" algn="r">
            <a:defRPr sz="600"/>
          </a:lvl4pPr>
          <a:lvl5pPr marL="228600" indent="-57150" algn="r">
            <a:defRPr sz="600"/>
          </a:lvl5pPr>
          <a:lvl6pPr marL="285750" indent="-57150" algn="r">
            <a:defRPr sz="600"/>
          </a:lvl6pPr>
          <a:lvl7pPr marL="342900" indent="-57150" algn="r">
            <a:defRPr sz="600"/>
          </a:lvl7pPr>
          <a:lvl8pPr marL="400050" indent="-57150" algn="r">
            <a:defRPr sz="600"/>
          </a:lvl8pPr>
          <a:lvl9pPr marL="457200" indent="-57150" algn="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</a:rPr>
            <a:t> </a:t>
          </a:r>
          <a:endParaRPr>
            <a:solidFill>
              <a:schemeClr val="tx1"/>
            </a:solidFill>
          </a:endParaRPr>
        </a:p>
      </dsp:txBody>
      <dsp:txXfrm rot="16200000">
        <a:off x="855088" y="620860"/>
        <a:ext cx="627876" cy="132820"/>
      </dsp:txXfrm>
    </dsp:sp>
    <dsp:sp modelId="{EA935FB9-BDC7-4A00-9EED-F76069156DE4}">
      <dsp:nvSpPr>
        <dsp:cNvPr id="4" name="Rectangles 3"/>
        <dsp:cNvSpPr/>
      </dsp:nvSpPr>
      <dsp:spPr bwMode="white">
        <a:xfrm>
          <a:off x="1235436" y="373332"/>
          <a:ext cx="1492336" cy="627876"/>
        </a:xfrm>
        <a:prstGeom prst="rect">
          <a:avLst/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135128" tIns="259352" rIns="135128" bIns="135128" anchor="t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/>
            <a:t>Planning</a:t>
          </a:r>
        </a:p>
      </dsp:txBody>
      <dsp:txXfrm>
        <a:off x="1235436" y="373332"/>
        <a:ext cx="1492336" cy="627876"/>
      </dsp:txXfrm>
    </dsp:sp>
    <dsp:sp modelId="{F537DC46-DB68-4AF9-809A-3FC2427538A7}">
      <dsp:nvSpPr>
        <dsp:cNvPr id="3" name="Rectangles 2"/>
        <dsp:cNvSpPr/>
      </dsp:nvSpPr>
      <dsp:spPr bwMode="white">
        <a:xfrm>
          <a:off x="624628" y="13970"/>
          <a:ext cx="588137" cy="661659"/>
        </a:xfrm>
        <a:prstGeom prst="rect">
          <a:avLst/>
        </a:prstGeom>
        <a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sp:spPr>
      <dsp:style>
        <a:lnRef idx="2">
          <a:schemeClr val="lt1"/>
        </a:lnRef>
        <a:fillRef idx="1">
          <a:schemeClr val="accent2">
            <a:tint val="50000"/>
          </a:schemeClr>
        </a:fillRef>
        <a:effectRef idx="0">
          <a:scrgbClr r="0" g="0" b="0"/>
        </a:effectRef>
        <a:fontRef idx="minor"/>
      </dsp:style>
      <dsp:txXfrm>
        <a:off x="624628" y="13970"/>
        <a:ext cx="588137" cy="661659"/>
      </dsp:txXfrm>
    </dsp:sp>
    <dsp:sp modelId="{9BAF6932-2E93-4D57-98AC-1D6C9F5DBBB0}">
      <dsp:nvSpPr>
        <dsp:cNvPr id="8" name="Rectangles 7"/>
        <dsp:cNvSpPr/>
      </dsp:nvSpPr>
      <dsp:spPr bwMode="white">
        <a:xfrm rot="16200000">
          <a:off x="2955874" y="620860"/>
          <a:ext cx="627876" cy="13282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259352" bIns="0" anchor="t"/>
        <a:lstStyle>
          <a:lvl1pPr algn="r">
            <a:defRPr sz="800"/>
          </a:lvl1pPr>
          <a:lvl2pPr marL="57150" indent="-57150" algn="r">
            <a:defRPr sz="600"/>
          </a:lvl2pPr>
          <a:lvl3pPr marL="114300" indent="-57150" algn="r">
            <a:defRPr sz="600"/>
          </a:lvl3pPr>
          <a:lvl4pPr marL="171450" indent="-57150" algn="r">
            <a:defRPr sz="600"/>
          </a:lvl4pPr>
          <a:lvl5pPr marL="228600" indent="-57150" algn="r">
            <a:defRPr sz="600"/>
          </a:lvl5pPr>
          <a:lvl6pPr marL="285750" indent="-57150" algn="r">
            <a:defRPr sz="600"/>
          </a:lvl6pPr>
          <a:lvl7pPr marL="342900" indent="-57150" algn="r">
            <a:defRPr sz="600"/>
          </a:lvl7pPr>
          <a:lvl8pPr marL="400050" indent="-57150" algn="r">
            <a:defRPr sz="600"/>
          </a:lvl8pPr>
          <a:lvl9pPr marL="457200" indent="-57150" algn="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</a:rPr>
            <a:t> </a:t>
          </a:r>
          <a:endParaRPr>
            <a:solidFill>
              <a:schemeClr val="tx1"/>
            </a:solidFill>
          </a:endParaRPr>
        </a:p>
      </dsp:txBody>
      <dsp:txXfrm rot="16200000">
        <a:off x="2955874" y="620860"/>
        <a:ext cx="627876" cy="132820"/>
      </dsp:txXfrm>
    </dsp:sp>
    <dsp:sp modelId="{1DA54378-0350-4A37-938D-0F516BF76F01}">
      <dsp:nvSpPr>
        <dsp:cNvPr id="7" name="Rectangles 6"/>
        <dsp:cNvSpPr/>
      </dsp:nvSpPr>
      <dsp:spPr bwMode="white">
        <a:xfrm>
          <a:off x="3336222" y="373332"/>
          <a:ext cx="1492336" cy="627876"/>
        </a:xfrm>
        <a:prstGeom prst="rect">
          <a:avLst/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135128" tIns="259352" rIns="135128" bIns="135128" anchor="t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/>
            <a:t>Analysis</a:t>
          </a:r>
        </a:p>
      </dsp:txBody>
      <dsp:txXfrm>
        <a:off x="3336222" y="373332"/>
        <a:ext cx="1492336" cy="627876"/>
      </dsp:txXfrm>
    </dsp:sp>
    <dsp:sp modelId="{EC13E4B6-F4CD-4AEC-A1F3-D11A8370285B}">
      <dsp:nvSpPr>
        <dsp:cNvPr id="6" name="Rectangles 5"/>
        <dsp:cNvSpPr/>
      </dsp:nvSpPr>
      <dsp:spPr bwMode="white">
        <a:xfrm>
          <a:off x="3078910" y="0"/>
          <a:ext cx="514624" cy="661659"/>
        </a:xfrm>
        <a:prstGeom prst="rect">
          <a:avLst/>
        </a:prstGeom>
        <a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sp:spPr>
      <dsp:style>
        <a:lnRef idx="2">
          <a:schemeClr val="lt1"/>
        </a:lnRef>
        <a:fillRef idx="1">
          <a:schemeClr val="accent3">
            <a:tint val="50000"/>
          </a:schemeClr>
        </a:fillRef>
        <a:effectRef idx="0">
          <a:scrgbClr r="0" g="0" b="0"/>
        </a:effectRef>
        <a:fontRef idx="minor"/>
      </dsp:style>
      <dsp:txXfrm>
        <a:off x="3078910" y="0"/>
        <a:ext cx="514624" cy="661659"/>
      </dsp:txXfrm>
    </dsp:sp>
    <dsp:sp modelId="{320EC8ED-DB98-4B20-A5FE-B20B83B35C87}">
      <dsp:nvSpPr>
        <dsp:cNvPr id="11" name="Rectangles 10"/>
        <dsp:cNvSpPr/>
      </dsp:nvSpPr>
      <dsp:spPr bwMode="white">
        <a:xfrm rot="16200000">
          <a:off x="5093416" y="620860"/>
          <a:ext cx="627876" cy="13282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259352" bIns="0" anchor="t"/>
        <a:lstStyle>
          <a:lvl1pPr algn="r">
            <a:defRPr sz="800"/>
          </a:lvl1pPr>
          <a:lvl2pPr marL="57150" indent="-57150" algn="r">
            <a:defRPr sz="600"/>
          </a:lvl2pPr>
          <a:lvl3pPr marL="114300" indent="-57150" algn="r">
            <a:defRPr sz="600"/>
          </a:lvl3pPr>
          <a:lvl4pPr marL="171450" indent="-57150" algn="r">
            <a:defRPr sz="600"/>
          </a:lvl4pPr>
          <a:lvl5pPr marL="228600" indent="-57150" algn="r">
            <a:defRPr sz="600"/>
          </a:lvl5pPr>
          <a:lvl6pPr marL="285750" indent="-57150" algn="r">
            <a:defRPr sz="600"/>
          </a:lvl6pPr>
          <a:lvl7pPr marL="342900" indent="-57150" algn="r">
            <a:defRPr sz="600"/>
          </a:lvl7pPr>
          <a:lvl8pPr marL="400050" indent="-57150" algn="r">
            <a:defRPr sz="600"/>
          </a:lvl8pPr>
          <a:lvl9pPr marL="457200" indent="-57150" algn="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</a:rPr>
            <a:t> </a:t>
          </a:r>
          <a:endParaRPr>
            <a:solidFill>
              <a:schemeClr val="tx1"/>
            </a:solidFill>
          </a:endParaRPr>
        </a:p>
      </dsp:txBody>
      <dsp:txXfrm rot="16200000">
        <a:off x="5093416" y="620860"/>
        <a:ext cx="627876" cy="132820"/>
      </dsp:txXfrm>
    </dsp:sp>
    <dsp:sp modelId="{013CFB61-3E09-4A2A-AF90-A011F953CE75}">
      <dsp:nvSpPr>
        <dsp:cNvPr id="10" name="Rectangles 9"/>
        <dsp:cNvSpPr/>
      </dsp:nvSpPr>
      <dsp:spPr bwMode="white">
        <a:xfrm>
          <a:off x="5473764" y="373332"/>
          <a:ext cx="1492336" cy="627876"/>
        </a:xfrm>
        <a:prstGeom prst="rect">
          <a:avLst/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135128" tIns="259352" rIns="135128" bIns="135128" anchor="t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/>
            <a:t>Design</a:t>
          </a:r>
        </a:p>
      </dsp:txBody>
      <dsp:txXfrm>
        <a:off x="5473764" y="373332"/>
        <a:ext cx="1492336" cy="627876"/>
      </dsp:txXfrm>
    </dsp:sp>
    <dsp:sp modelId="{508541A4-8D2D-4C1E-8353-3E3ADCC05CB3}">
      <dsp:nvSpPr>
        <dsp:cNvPr id="9" name="Rectangles 8"/>
        <dsp:cNvSpPr/>
      </dsp:nvSpPr>
      <dsp:spPr bwMode="white">
        <a:xfrm>
          <a:off x="5179696" y="0"/>
          <a:ext cx="588137" cy="661659"/>
        </a:xfrm>
        <a:prstGeom prst="rect">
          <a:avLst/>
        </a:prstGeom>
        <a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sp:spPr>
      <dsp:style>
        <a:lnRef idx="2">
          <a:schemeClr val="lt1"/>
        </a:lnRef>
        <a:fillRef idx="1">
          <a:schemeClr val="accent4">
            <a:tint val="50000"/>
          </a:schemeClr>
        </a:fillRef>
        <a:effectRef idx="0">
          <a:scrgbClr r="0" g="0" b="0"/>
        </a:effectRef>
        <a:fontRef idx="minor"/>
      </dsp:style>
      <dsp:txXfrm>
        <a:off x="5179696" y="0"/>
        <a:ext cx="588137" cy="661659"/>
      </dsp:txXfrm>
    </dsp:sp>
    <dsp:sp modelId="{590DA148-71DB-41F4-972D-BB75FDF55258}">
      <dsp:nvSpPr>
        <dsp:cNvPr id="14" name="Rectangles 13"/>
        <dsp:cNvSpPr/>
      </dsp:nvSpPr>
      <dsp:spPr bwMode="white">
        <a:xfrm rot="16200000">
          <a:off x="7230959" y="620860"/>
          <a:ext cx="627876" cy="13282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0" tIns="0" rIns="259352" bIns="0" anchor="t"/>
        <a:lstStyle>
          <a:lvl1pPr algn="r">
            <a:defRPr sz="800"/>
          </a:lvl1pPr>
          <a:lvl2pPr marL="57150" indent="-57150" algn="r">
            <a:defRPr sz="600"/>
          </a:lvl2pPr>
          <a:lvl3pPr marL="114300" indent="-57150" algn="r">
            <a:defRPr sz="600"/>
          </a:lvl3pPr>
          <a:lvl4pPr marL="171450" indent="-57150" algn="r">
            <a:defRPr sz="600"/>
          </a:lvl4pPr>
          <a:lvl5pPr marL="228600" indent="-57150" algn="r">
            <a:defRPr sz="600"/>
          </a:lvl5pPr>
          <a:lvl6pPr marL="285750" indent="-57150" algn="r">
            <a:defRPr sz="600"/>
          </a:lvl6pPr>
          <a:lvl7pPr marL="342900" indent="-57150" algn="r">
            <a:defRPr sz="600"/>
          </a:lvl7pPr>
          <a:lvl8pPr marL="400050" indent="-57150" algn="r">
            <a:defRPr sz="600"/>
          </a:lvl8pPr>
          <a:lvl9pPr marL="457200" indent="-57150" algn="r">
            <a:defRPr sz="6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dirty="0">
              <a:solidFill>
                <a:schemeClr val="tx1"/>
              </a:solidFill>
            </a:rPr>
            <a:t> </a:t>
          </a:r>
          <a:endParaRPr>
            <a:solidFill>
              <a:schemeClr val="tx1"/>
            </a:solidFill>
          </a:endParaRPr>
        </a:p>
      </dsp:txBody>
      <dsp:txXfrm rot="16200000">
        <a:off x="7230959" y="620860"/>
        <a:ext cx="627876" cy="132820"/>
      </dsp:txXfrm>
    </dsp:sp>
    <dsp:sp modelId="{3F990B16-C139-4D43-ABF8-9B7062B506D3}">
      <dsp:nvSpPr>
        <dsp:cNvPr id="13" name="Rectangles 12"/>
        <dsp:cNvSpPr/>
      </dsp:nvSpPr>
      <dsp:spPr bwMode="white">
        <a:xfrm>
          <a:off x="7611307" y="373332"/>
          <a:ext cx="1492336" cy="627876"/>
        </a:xfrm>
        <a:prstGeom prst="rect">
          <a:avLst/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lIns="135128" tIns="259352" rIns="135128" bIns="135128" anchor="t"/>
        <a:lstStyle>
          <a:lvl1pPr algn="l">
            <a:defRPr sz="1900"/>
          </a:lvl1pPr>
          <a:lvl2pPr marL="114300" indent="-114300" algn="l">
            <a:defRPr sz="1400"/>
          </a:lvl2pPr>
          <a:lvl3pPr marL="228600" indent="-114300" algn="l">
            <a:defRPr sz="1400"/>
          </a:lvl3pPr>
          <a:lvl4pPr marL="342900" indent="-114300" algn="l">
            <a:defRPr sz="1400"/>
          </a:lvl4pPr>
          <a:lvl5pPr marL="457200" indent="-114300" algn="l">
            <a:defRPr sz="1400"/>
          </a:lvl5pPr>
          <a:lvl6pPr marL="571500" indent="-114300" algn="l">
            <a:defRPr sz="1400"/>
          </a:lvl6pPr>
          <a:lvl7pPr marL="685800" indent="-114300" algn="l">
            <a:defRPr sz="1400"/>
          </a:lvl7pPr>
          <a:lvl8pPr marL="800100" indent="-114300" algn="l">
            <a:defRPr sz="1400"/>
          </a:lvl8pPr>
          <a:lvl9pPr marL="914400" indent="-114300" algn="l">
            <a:defRPr sz="1400"/>
          </a:lvl9pPr>
        </a:lstStyle>
        <a:p>
          <a:pPr lvl="1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dirty="0"/>
            <a:t>Coding</a:t>
          </a:r>
        </a:p>
      </dsp:txBody>
      <dsp:txXfrm>
        <a:off x="7611307" y="373332"/>
        <a:ext cx="1492336" cy="627876"/>
      </dsp:txXfrm>
    </dsp:sp>
    <dsp:sp modelId="{A5278B5D-15ED-4B8E-8BD7-4D3FFE025A37}">
      <dsp:nvSpPr>
        <dsp:cNvPr id="12" name="Rectangles 11"/>
        <dsp:cNvSpPr/>
      </dsp:nvSpPr>
      <dsp:spPr bwMode="white">
        <a:xfrm>
          <a:off x="7317238" y="0"/>
          <a:ext cx="588137" cy="661659"/>
        </a:xfrm>
        <a:prstGeom prst="rect">
          <a:avLst/>
        </a:prstGeom>
        <a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sp:spPr>
      <dsp:style>
        <a:lnRef idx="2">
          <a:schemeClr val="lt1"/>
        </a:lnRef>
        <a:fillRef idx="1">
          <a:schemeClr val="accent5">
            <a:tint val="50000"/>
          </a:schemeClr>
        </a:fillRef>
        <a:effectRef idx="0">
          <a:scrgbClr r="0" g="0" b="0"/>
        </a:effectRef>
        <a:fontRef idx="minor"/>
      </dsp:style>
      <dsp:txXfrm>
        <a:off x="7317238" y="0"/>
        <a:ext cx="588137" cy="6616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parTxLTRAlign" val="r"/>
                <dgm:param type="parTxRTLAlign" val="r"/>
                <dgm:param type="txAnchorVert" val="t"/>
              </dgm:alg>
              <dgm:shape xmlns:r="http://schemas.openxmlformats.org/officeDocument/2006/relationships" type="rect" r:blip="" rot="270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type="rect" r:blip="" rot="90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CC920-BA7A-4FEE-8B5C-1AB434BD601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BED29-AA79-4C2D-935C-7DC244D1E59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1B848-655C-46CA-BF91-ACA17461C6F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D9469-1E07-4772-A64E-BCE3066454D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33F0B-50CB-47DC-B3CD-EBCC0EC22EF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C31B5-8A8E-4547-992D-FDF552EAE7BB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C4534-48D7-41B0-B39D-E0F37E4E9297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3F951-59F1-43F6-8DFB-A615D6A61D8C}" type="datetime1">
              <a:rPr lang="en-US" smtClean="0"/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CC86E-A7BB-482E-9B4B-16F7767C9318}" type="datetime1">
              <a:rPr lang="en-US" smtClean="0"/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2CB1-5B26-436F-8719-1A58296657E5}" type="datetime1">
              <a:rPr lang="en-US" smtClean="0"/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86A15-0FD9-4EF7-9548-3A16AA94716C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F209D-E74A-4C09-92DB-3BEBF9A0F616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12405-2001-4A2C-8874-98768192AC38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4C325-BC40-4E8A-B4C0-0706A391374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E68B-D786-4B90-A26A-AB5979D006B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49FCB-C3FA-499F-AF44-3D3DD6938DD8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5630E-F112-4B3D-9957-40CC0B4E2EE2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659F0-2E4F-4FD3-828D-B73FC3FB2D2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61F3-5D0B-4BDC-9D68-0939A0B4AD2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4.png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F6F99D-2232-4D5A-86AA-842A71A5F8F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panose="05040102010807070707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77070" y="4796972"/>
            <a:ext cx="5813669" cy="1285775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Introduction</a:t>
            </a:r>
            <a:endParaRPr lang="en-US" sz="4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9370" y="986973"/>
            <a:ext cx="5637143" cy="3810000"/>
          </a:xfrm>
          <a:prstGeom prst="rect">
            <a:avLst/>
          </a:prstGeom>
        </p:spPr>
      </p:pic>
      <p:sp>
        <p:nvSpPr>
          <p:cNvPr id="13" name="Subtitle 2"/>
          <p:cNvSpPr txBox="1"/>
          <p:nvPr/>
        </p:nvSpPr>
        <p:spPr>
          <a:xfrm>
            <a:off x="2066405" y="3409122"/>
            <a:ext cx="3419061" cy="21301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algn="r"/>
            <a:r>
              <a:rPr lang="en-US" sz="168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1</a:t>
            </a:r>
            <a:endParaRPr lang="en-US" sz="168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Software Eng...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361662"/>
            <a:ext cx="10465836" cy="488673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+mn-lt"/>
              </a:rPr>
              <a:t>Software engineering is the branch of computer science that deals with:</a:t>
            </a:r>
            <a:endParaRPr lang="en-US" sz="2400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</a:rPr>
              <a:t>the analysis, </a:t>
            </a:r>
            <a:endParaRPr lang="en-US" sz="2000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</a:rPr>
              <a:t>design, </a:t>
            </a:r>
            <a:endParaRPr lang="en-US" sz="2000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</a:rPr>
              <a:t>development, </a:t>
            </a:r>
            <a:endParaRPr lang="en-US" sz="2000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</a:rPr>
              <a:t>testing, </a:t>
            </a:r>
            <a:endParaRPr lang="en-US" sz="2000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</a:rPr>
              <a:t>deployment </a:t>
            </a:r>
            <a:endParaRPr lang="en-US" sz="2000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</a:rPr>
              <a:t>and maintenance of software applications. </a:t>
            </a:r>
            <a:endParaRPr lang="en-US" sz="2000" dirty="0">
              <a:latin typeface="+mn-lt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+mn-lt"/>
              </a:rPr>
              <a:t>It involves the applications of engineering principles and knowledge of programming languages to build software solutions for end users.</a:t>
            </a:r>
            <a:endParaRPr lang="en-US" sz="24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SDLC…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361662"/>
            <a:ext cx="10465836" cy="488673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+mn-lt"/>
              </a:rPr>
              <a:t>The systems development life cycle (SDLC):</a:t>
            </a:r>
            <a:endParaRPr lang="en-US" sz="2400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200" dirty="0">
                <a:latin typeface="+mn-lt"/>
              </a:rPr>
              <a:t>is the process of understanding how an information system (IS) can support business needs by designing a system, building it, and delivering it to users.</a:t>
            </a:r>
            <a:endParaRPr lang="en-US" sz="2200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200" dirty="0">
                <a:latin typeface="+mn-lt"/>
              </a:rPr>
              <a:t>SDLC improves the probability of success of development by planning the overall process, cost and time of developing a software product.</a:t>
            </a:r>
            <a:endParaRPr lang="en-US" sz="2200" dirty="0">
              <a:latin typeface="+mn-lt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</a:rPr>
              <a:t>Several researches has reported:</a:t>
            </a:r>
            <a:endParaRPr lang="en-US" sz="2000" dirty="0">
              <a:latin typeface="+mn-lt"/>
            </a:endParaRP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en-US" sz="1800" dirty="0">
                <a:latin typeface="+mn-lt"/>
              </a:rPr>
              <a:t>Most IS projects were either overtime, overbudget, or built with less functionalities…</a:t>
            </a:r>
            <a:endParaRPr lang="en-US" sz="1800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200" dirty="0">
                <a:latin typeface="+mn-lt"/>
              </a:rPr>
              <a:t>SDLC basically focused on reducing the probability of occurrence of such mischiefs.</a:t>
            </a:r>
            <a:endParaRPr lang="en-US" sz="22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6" y="1361662"/>
            <a:ext cx="6172130" cy="504362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+mn-lt"/>
              </a:rPr>
              <a:t>SDLC </a:t>
            </a:r>
            <a:r>
              <a:rPr lang="en-US" sz="2200" dirty="0">
                <a:latin typeface="+mn-lt"/>
              </a:rPr>
              <a:t>has four fundamental phases:- planning, analysis, design and implementation.</a:t>
            </a:r>
            <a:endParaRPr lang="en-US" sz="2200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2000" dirty="0">
                <a:latin typeface="+mn-lt"/>
              </a:rPr>
              <a:t>Each phase rely upon techniques that produce deliverables (specific documents and files that provide understanding about the project).</a:t>
            </a:r>
            <a:endParaRPr lang="en-US" sz="2000" dirty="0">
              <a:latin typeface="+mn-lt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285044"/>
            <a:ext cx="5374692" cy="5120238"/>
          </a:xfrm>
          <a:prstGeom prst="rect">
            <a:avLst/>
          </a:prstGeom>
        </p:spPr>
      </p:pic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361662"/>
            <a:ext cx="10525469" cy="504362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+mn-lt"/>
              </a:rPr>
              <a:t>Understanding SDLC includes:</a:t>
            </a:r>
            <a:endParaRPr lang="en-US" sz="2400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Understanding each and every phases of the cycle or (SDLC-phases)</a:t>
            </a:r>
            <a:endParaRPr lang="en-US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and understanding the order in which the phases should be executed or (SDLC-Methodologies)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073495" y="2794218"/>
            <a:ext cx="10426840" cy="3447556"/>
            <a:chOff x="1073495" y="2794218"/>
            <a:chExt cx="10426840" cy="3447556"/>
          </a:xfrm>
        </p:grpSpPr>
        <p:grpSp>
          <p:nvGrpSpPr>
            <p:cNvPr id="10" name="Group 9"/>
            <p:cNvGrpSpPr/>
            <p:nvPr/>
          </p:nvGrpSpPr>
          <p:grpSpPr>
            <a:xfrm>
              <a:off x="1073495" y="2794218"/>
              <a:ext cx="10045010" cy="3447556"/>
              <a:chOff x="1073495" y="2794218"/>
              <a:chExt cx="10045010" cy="3447556"/>
            </a:xfrm>
          </p:grpSpPr>
          <p:graphicFrame>
            <p:nvGraphicFramePr>
              <p:cNvPr id="5" name="Diagram 4"/>
              <p:cNvGraphicFramePr/>
              <p:nvPr/>
            </p:nvGraphicFramePr>
            <p:xfrm>
              <a:off x="1073495" y="2794218"/>
              <a:ext cx="10045010" cy="100120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1" r:lo="rId2" r:qs="rId3" r:cs="rId4"/>
              </a:graphicData>
            </a:graphic>
          </p:graphicFrame>
          <p:sp>
            <p:nvSpPr>
              <p:cNvPr id="6" name="Rectangle 5"/>
              <p:cNvSpPr/>
              <p:nvPr/>
            </p:nvSpPr>
            <p:spPr>
              <a:xfrm>
                <a:off x="1732136" y="3749696"/>
                <a:ext cx="1948069" cy="2114391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dirty="0"/>
                  <a:t>Planning is understanding</a:t>
                </a:r>
                <a:endParaRPr lang="en-US" sz="12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Why an IS should be built?</a:t>
                </a:r>
                <a:endParaRPr lang="en-US" sz="12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How the team will go built it?</a:t>
                </a:r>
                <a:endParaRPr lang="en-US" sz="12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What is required? Is the request possible to achieve?</a:t>
                </a:r>
                <a:endParaRPr lang="en-US" sz="12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If approved- a workplan also required</a:t>
                </a:r>
                <a:endParaRPr lang="en-US" sz="1200" dirty="0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4338846" y="3749696"/>
                <a:ext cx="1948069" cy="2492078"/>
              </a:xfrm>
              <a:prstGeom prst="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dirty="0"/>
                  <a:t>Analysis phase answers</a:t>
                </a:r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Who will use the system?</a:t>
                </a:r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What will the system do?</a:t>
                </a:r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Where and when it will be used?</a:t>
                </a:r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Analyze current system and ways to design a new system.</a:t>
                </a:r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Requirement analysis</a:t>
                </a:r>
                <a:endParaRPr lang="en-US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200" dirty="0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6945556" y="3749696"/>
                <a:ext cx="1948069" cy="1746642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dirty="0"/>
                  <a:t>Design decides</a:t>
                </a:r>
                <a:endParaRPr lang="en-US" sz="12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How the system operates?</a:t>
                </a:r>
                <a:endParaRPr lang="en-US" sz="12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200" dirty="0"/>
                  <a:t>Architecture, UX, Network infrastructure, database design and program design.</a:t>
                </a:r>
                <a:endParaRPr lang="en-US" sz="1200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200" dirty="0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9552266" y="3737774"/>
              <a:ext cx="1948069" cy="2183965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dirty="0"/>
                <a:t>Implementation includes</a:t>
              </a:r>
              <a:endParaRPr lang="en-US" sz="1200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The overall steps of building the system involves</a:t>
              </a:r>
              <a:endParaRPr lang="en-US" sz="1200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Coding</a:t>
              </a:r>
              <a:endParaRPr lang="en-US" sz="1200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Testing</a:t>
              </a:r>
              <a:endParaRPr lang="en-US" sz="1200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Installing</a:t>
              </a:r>
              <a:endParaRPr lang="en-US" sz="1200" dirty="0"/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en-US" sz="1200" dirty="0"/>
                <a:t>And preparing support plan for users.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SDLC-Methodologies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361662"/>
            <a:ext cx="10525469" cy="504362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+mn-lt"/>
              </a:rPr>
              <a:t>Understanding SDLC includes:</a:t>
            </a:r>
            <a:endParaRPr lang="en-US" sz="2400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Understanding each and every phases of the cycle or (SDLC-phases)</a:t>
            </a:r>
            <a:endParaRPr lang="en-US" dirty="0">
              <a:latin typeface="+mn-lt"/>
            </a:endParaRP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and understanding the order in which the phases should be executed or (SDLC-Methodologies)</a:t>
            </a:r>
            <a:endParaRPr lang="en-US" dirty="0">
              <a:latin typeface="+mn-lt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A methodology is a formalized approach to implementing the SDLC (i.e., it is a list of steps and deliverables). </a:t>
            </a:r>
            <a:endParaRPr lang="en-US" dirty="0">
              <a:latin typeface="+mn-lt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SDLC-methodologies are different and unique, based on the order and focus it places on each SDLC phase.</a:t>
            </a:r>
            <a:endParaRPr lang="en-US" dirty="0">
              <a:latin typeface="+mn-lt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SDLC-Methodologies can be categorized:</a:t>
            </a:r>
            <a:endParaRPr lang="en-US" dirty="0">
              <a:latin typeface="+mn-lt"/>
            </a:endParaRPr>
          </a:p>
          <a:p>
            <a:pPr marL="800100" lvl="1" indent="-342900" algn="just">
              <a:buClr>
                <a:srgbClr val="FF0000"/>
              </a:buClr>
              <a:buSzPct val="100000"/>
              <a:buFont typeface="+mj-lt"/>
              <a:buAutoNum type="arabicPeriod"/>
            </a:pPr>
            <a:r>
              <a:rPr lang="en-US" b="1" dirty="0">
                <a:latin typeface="+mn-lt"/>
              </a:rPr>
              <a:t>based on the focus where the development should give more emphasis for as</a:t>
            </a:r>
            <a:r>
              <a:rPr lang="en-US" dirty="0">
                <a:latin typeface="+mn-lt"/>
              </a:rPr>
              <a:t>:</a:t>
            </a:r>
            <a:endParaRPr lang="en-US" dirty="0">
              <a:latin typeface="+mn-lt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Data-centered: focus is on defining and designing data storages as a core of the cycle.</a:t>
            </a:r>
            <a:endParaRPr lang="en-US" dirty="0">
              <a:latin typeface="+mn-lt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Process-centered: focus is on defining and designing processes(business-rules) as a core of the cycle.</a:t>
            </a:r>
            <a:endParaRPr lang="en-US" dirty="0">
              <a:latin typeface="+mn-lt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and Object-Oriented methodologies: gives equal emphasis by integrating both into objects.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Object oriented </a:t>
            </a:r>
            <a:r>
              <a:rPr lang="en-US" sz="1600" dirty="0">
                <a:solidFill>
                  <a:schemeClr val="accent1"/>
                </a:solidFill>
                <a:latin typeface="Arial Black" panose="020B0A04020102020204" pitchFamily="34" charset="0"/>
              </a:rPr>
              <a:t>system development methodology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361662"/>
            <a:ext cx="10525469" cy="504362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1F20"/>
                </a:solidFill>
                <a:latin typeface="MinionPro-Regular"/>
              </a:rPr>
              <a:t>Object-oriented systems</a:t>
            </a:r>
            <a:r>
              <a:rPr lang="en-US" sz="1800" b="0" i="0" u="none" strike="noStrike" baseline="0" dirty="0">
                <a:solidFill>
                  <a:srgbClr val="231F20"/>
                </a:solidFill>
                <a:latin typeface="MinionPro-Regular"/>
              </a:rPr>
              <a:t>: - depicts a system as little modules, called objects, that encompass both data and process together.</a:t>
            </a:r>
            <a:endParaRPr lang="en-US" sz="1800" b="0" i="0" u="none" strike="noStrike" baseline="0" dirty="0">
              <a:solidFill>
                <a:srgbClr val="231F20"/>
              </a:solidFill>
              <a:latin typeface="MinionPro-Regular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31F20"/>
                </a:solidFill>
                <a:latin typeface="MinionPro-Regular"/>
              </a:rPr>
              <a:t>Basic characteristics of object-oriented systems are:</a:t>
            </a:r>
            <a:endParaRPr lang="en-US" sz="2400" dirty="0">
              <a:solidFill>
                <a:srgbClr val="231F20"/>
              </a:solidFill>
              <a:latin typeface="MinionPro-Regular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MinionPro-Regular"/>
              </a:rPr>
              <a:t>Classes and Objects:</a:t>
            </a:r>
            <a:endParaRPr lang="en-US" sz="2200" dirty="0">
              <a:solidFill>
                <a:srgbClr val="231F20"/>
              </a:solidFill>
              <a:latin typeface="MinionPro-Regular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231F20"/>
                </a:solidFill>
                <a:latin typeface="MinionPro-Regular"/>
              </a:rPr>
              <a:t>A </a:t>
            </a:r>
            <a:r>
              <a:rPr lang="en-US" sz="1800" b="0" i="1" u="none" strike="noStrike" baseline="0" dirty="0">
                <a:solidFill>
                  <a:srgbClr val="231F20"/>
                </a:solidFill>
                <a:latin typeface="MinionPro-It"/>
              </a:rPr>
              <a:t>class </a:t>
            </a:r>
            <a:r>
              <a:rPr lang="en-US" sz="1800" b="0" i="0" u="none" strike="noStrike" baseline="0" dirty="0">
                <a:solidFill>
                  <a:srgbClr val="231F20"/>
                </a:solidFill>
                <a:latin typeface="MinionPro-Regular"/>
              </a:rPr>
              <a:t>is the general template we use to defi ne and create specific instances, or objects.</a:t>
            </a:r>
            <a:endParaRPr lang="en-US" sz="1800" b="0" i="0" u="none" strike="noStrike" baseline="0" dirty="0">
              <a:solidFill>
                <a:srgbClr val="231F20"/>
              </a:solidFill>
              <a:latin typeface="MinionPro-Regular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231F20"/>
                </a:solidFill>
                <a:latin typeface="MinionPro-Regular"/>
              </a:rPr>
              <a:t>An </a:t>
            </a:r>
            <a:r>
              <a:rPr lang="en-US" sz="1800" b="0" i="1" u="none" strike="noStrike" baseline="0" dirty="0">
                <a:solidFill>
                  <a:srgbClr val="231F20"/>
                </a:solidFill>
                <a:latin typeface="MinionPro-It"/>
              </a:rPr>
              <a:t>object </a:t>
            </a:r>
            <a:r>
              <a:rPr lang="en-US" sz="1800" b="0" i="0" u="none" strike="noStrike" baseline="0" dirty="0">
                <a:solidFill>
                  <a:srgbClr val="231F20"/>
                </a:solidFill>
                <a:latin typeface="MinionPro-Regular"/>
              </a:rPr>
              <a:t>is an instantiation of a class. </a:t>
            </a:r>
            <a:endParaRPr lang="en-US" sz="1800" b="0" i="0" u="none" strike="noStrike" baseline="0" dirty="0">
              <a:solidFill>
                <a:srgbClr val="231F20"/>
              </a:solidFill>
              <a:latin typeface="MinionPro-Regular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231F20"/>
                </a:solidFill>
                <a:latin typeface="MinionPro-Regular"/>
              </a:rPr>
              <a:t>Every object has its own attributes and behaviors. Attributes are data about the object and behaviors are methods or functions an object can do.</a:t>
            </a:r>
            <a:endParaRPr lang="en-US" sz="1600" b="0" i="0" u="none" strike="noStrike" baseline="0" dirty="0">
              <a:solidFill>
                <a:srgbClr val="231F20"/>
              </a:solidFill>
              <a:latin typeface="MinionPro-Regular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1F20"/>
                </a:solidFill>
                <a:latin typeface="MinionPro-Regular"/>
              </a:rPr>
              <a:t>Methods and Messages:</a:t>
            </a:r>
            <a:endParaRPr lang="en-US" sz="2000" dirty="0">
              <a:solidFill>
                <a:srgbClr val="231F20"/>
              </a:solidFill>
              <a:latin typeface="MinionPro-Regular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231F20"/>
                </a:solidFill>
                <a:latin typeface="MinionPro-Regular"/>
              </a:rPr>
              <a:t>Methods implement an object’s behavior, so its an action that an object can perform. </a:t>
            </a:r>
            <a:endParaRPr lang="en-US" sz="1800" b="0" i="0" u="none" strike="noStrike" baseline="0" dirty="0">
              <a:solidFill>
                <a:srgbClr val="231F20"/>
              </a:solidFill>
              <a:latin typeface="MinionPro-Regular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231F20"/>
                </a:solidFill>
                <a:latin typeface="MinionPro-Regular"/>
              </a:rPr>
              <a:t>Messages are information( function calls) sent to objects to trigger methods.</a:t>
            </a:r>
            <a:endParaRPr lang="en-US" sz="20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361662"/>
            <a:ext cx="10525469" cy="504362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MinionPro-Regular"/>
              </a:rPr>
              <a:t>Encapsulation and Abstraction:</a:t>
            </a:r>
            <a:endParaRPr lang="en-US" sz="2200" dirty="0">
              <a:solidFill>
                <a:srgbClr val="231F20"/>
              </a:solidFill>
              <a:latin typeface="MinionPro-Regular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231F20"/>
                </a:solidFill>
                <a:latin typeface="MinionPro-Regular"/>
              </a:rPr>
              <a:t>Encapsulation is simply the combination or binding of process and data into a single entity. </a:t>
            </a:r>
            <a:endParaRPr lang="en-US" sz="1800" b="0" i="0" u="none" strike="noStrike" baseline="0" dirty="0">
              <a:solidFill>
                <a:srgbClr val="231F20"/>
              </a:solidFill>
              <a:latin typeface="MinionPro-Regular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31F20"/>
                </a:solidFill>
                <a:latin typeface="MinionPro-Regular"/>
              </a:rPr>
              <a:t>Abstraction is i</a:t>
            </a:r>
            <a:r>
              <a:rPr lang="en-US" sz="1800" b="0" i="0" u="none" strike="noStrike" baseline="0" dirty="0">
                <a:solidFill>
                  <a:srgbClr val="231F20"/>
                </a:solidFill>
                <a:latin typeface="MinionPro-Regular"/>
              </a:rPr>
              <a:t>nformation hiding.</a:t>
            </a:r>
            <a:endParaRPr lang="en-US" sz="1800" b="0" i="0" u="none" strike="noStrike" baseline="0" dirty="0">
              <a:solidFill>
                <a:srgbClr val="231F20"/>
              </a:solidFill>
              <a:latin typeface="MinionPro-Regular"/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231F20"/>
                </a:solidFill>
                <a:latin typeface="MinionPro-Regular"/>
              </a:rPr>
              <a:t>The principle of information hiding suggests that only the information required to use a software module be published to the user of the module.</a:t>
            </a:r>
            <a:endParaRPr lang="en-US" sz="1600" b="0" i="0" u="none" strike="noStrike" baseline="0" dirty="0">
              <a:solidFill>
                <a:srgbClr val="231F20"/>
              </a:solidFill>
              <a:latin typeface="MinionPro-Regular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231F20"/>
                </a:solidFill>
                <a:latin typeface="MinionPro-Regular"/>
              </a:rPr>
              <a:t>Inheritance:</a:t>
            </a:r>
            <a:endParaRPr lang="en-US" sz="2200" dirty="0">
              <a:solidFill>
                <a:srgbClr val="231F20"/>
              </a:solidFill>
              <a:latin typeface="MinionPro-Regular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231F20"/>
                </a:solidFill>
                <a:latin typeface="MinionPro-Regular"/>
              </a:rPr>
              <a:t>Enforces the arrangement of super classes, or general classes, at the top and the subclasses, or specific classes, at the bottom.</a:t>
            </a:r>
            <a:endParaRPr lang="en-US" sz="1800" b="0" i="0" u="none" strike="noStrike" baseline="0" dirty="0">
              <a:solidFill>
                <a:srgbClr val="231F20"/>
              </a:solidFill>
              <a:latin typeface="MinionPro-Regular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31F20"/>
                </a:solidFill>
                <a:latin typeface="MinionPro-Regular"/>
              </a:rPr>
              <a:t>Subclasses inherit the appropriate attributes and methods from the super classes above them. That is, each subclass contains attributes and methods from its parent superclass.</a:t>
            </a:r>
            <a:endParaRPr lang="en-US" sz="1800" dirty="0">
              <a:solidFill>
                <a:srgbClr val="231F20"/>
              </a:solidFill>
              <a:latin typeface="MinionPro-Regular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31F20"/>
                </a:solidFill>
                <a:latin typeface="MinionPro-Regular"/>
              </a:rPr>
              <a:t>Polymorphism:</a:t>
            </a:r>
            <a:endParaRPr lang="en-US" sz="2000" dirty="0">
              <a:solidFill>
                <a:srgbClr val="231F20"/>
              </a:solidFill>
              <a:latin typeface="MinionPro-Regular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31F20"/>
                </a:solidFill>
                <a:latin typeface="MinionPro-Regular"/>
              </a:rPr>
              <a:t>Polymorphism means that the same message can be interpreted differently by different classes of objects </a:t>
            </a:r>
            <a:endParaRPr lang="en-US" sz="1800" dirty="0">
              <a:solidFill>
                <a:srgbClr val="231F20"/>
              </a:solidFill>
              <a:latin typeface="MinionPro-Regula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361662"/>
            <a:ext cx="10525469" cy="5043620"/>
          </a:xfrm>
        </p:spPr>
        <p:txBody>
          <a:bodyPr>
            <a:normAutofit/>
          </a:bodyPr>
          <a:lstStyle/>
          <a:p>
            <a:pPr marL="800100" lvl="1" indent="-342900" algn="just">
              <a:buClr>
                <a:srgbClr val="FF0000"/>
              </a:buClr>
              <a:buSzPct val="100000"/>
              <a:buFont typeface="+mj-lt"/>
              <a:buAutoNum type="arabicPeriod" startAt="2"/>
            </a:pPr>
            <a:r>
              <a:rPr lang="en-US" b="1" dirty="0">
                <a:latin typeface="+mn-lt"/>
              </a:rPr>
              <a:t>based on sequence in which SDLC-phases are executed as:</a:t>
            </a:r>
            <a:endParaRPr lang="en-US" b="1" dirty="0">
              <a:latin typeface="+mn-lt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Structured Design: is a step-by-step development approach to the SDLC-phases.</a:t>
            </a:r>
            <a:endParaRPr lang="en-US" dirty="0">
              <a:latin typeface="+mn-lt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Rapid Application Development(RAD): more focus on delivering some parts of the SDLC-phases. </a:t>
            </a:r>
            <a:endParaRPr lang="en-US" dirty="0">
              <a:latin typeface="+mn-lt"/>
            </a:endParaRPr>
          </a:p>
          <a:p>
            <a:pPr lvl="3" algn="just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E.g. design and implementation so users can suggest a revision based on that.</a:t>
            </a:r>
            <a:endParaRPr lang="en-US" dirty="0">
              <a:latin typeface="+mn-lt"/>
            </a:endParaRPr>
          </a:p>
          <a:p>
            <a:pPr lvl="2" algn="just">
              <a:buFont typeface="Wingdings" panose="05000000000000000000" pitchFamily="2" charset="2"/>
              <a:buChar char="§"/>
            </a:pPr>
            <a:r>
              <a:rPr lang="en-US" dirty="0">
                <a:latin typeface="+mn-lt"/>
              </a:rPr>
              <a:t>and Agile Development: an iterative application development that eliminates much of modeling and documentation.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Structured…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361662"/>
            <a:ext cx="10525469" cy="5043620"/>
          </a:xfrm>
        </p:spPr>
        <p:txBody>
          <a:bodyPr>
            <a:normAutofit/>
          </a:bodyPr>
          <a:lstStyle/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Most data-centered and process-centered approaches follows the most commonly used structured development approaches: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Waterfall development approach:</a:t>
            </a:r>
            <a:endParaRPr lang="en-US" dirty="0">
              <a:latin typeface="+mn-lt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Step by step development of SDLC-phases by delivering the expected key-deliverables from each phase and get approval from the project manager/ sponsor/.</a:t>
            </a:r>
            <a:endParaRPr lang="en-US" dirty="0">
              <a:latin typeface="+mn-lt"/>
            </a:endParaRPr>
          </a:p>
          <a:p>
            <a:pPr marL="971550" lvl="2" indent="0" algn="just">
              <a:buClr>
                <a:schemeClr val="bg2"/>
              </a:buClr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4110" y="3114261"/>
            <a:ext cx="4994854" cy="34480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Content Placeholder 2"/>
          <p:cNvSpPr txBox="1"/>
          <p:nvPr/>
        </p:nvSpPr>
        <p:spPr>
          <a:xfrm>
            <a:off x="1938130" y="3253410"/>
            <a:ext cx="4398099" cy="3151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Pros:</a:t>
            </a:r>
            <a:endParaRPr lang="en-US" sz="1600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Identifies user and system requirements early.</a:t>
            </a:r>
            <a:endParaRPr lang="en-US" sz="1400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Minimizes a need to change requirements later on progress.</a:t>
            </a:r>
            <a:endParaRPr lang="en-US" sz="1400" dirty="0">
              <a:latin typeface="+mn-lt"/>
            </a:endParaRPr>
          </a:p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Cons:</a:t>
            </a:r>
            <a:endParaRPr lang="en-US" sz="1200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The design must be completed before implementation begins. [*time elapsing]</a:t>
            </a:r>
            <a:endParaRPr lang="en-US" sz="1400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Adapting changes is difficult.</a:t>
            </a:r>
            <a:endParaRPr lang="en-US" sz="1400" dirty="0">
              <a:latin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0296" y="2937280"/>
            <a:ext cx="6748668" cy="37343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232452"/>
            <a:ext cx="10525469" cy="5043620"/>
          </a:xfrm>
        </p:spPr>
        <p:txBody>
          <a:bodyPr>
            <a:normAutofit/>
          </a:bodyPr>
          <a:lstStyle/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Parallel development approach:</a:t>
            </a:r>
            <a:endParaRPr lang="en-US" dirty="0">
              <a:latin typeface="+mn-lt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is still a step by step implementation of the SDLC-phases, but it attempts to address a long delay in delivering the system:</a:t>
            </a:r>
            <a:endParaRPr lang="en-US" dirty="0">
              <a:latin typeface="+mn-lt"/>
            </a:endParaRPr>
          </a:p>
          <a:p>
            <a:pPr marL="1657350" lvl="3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by dividing the design and implementation phases of the whole project into series of distinct sub-projects,</a:t>
            </a:r>
            <a:endParaRPr lang="en-US" dirty="0">
              <a:latin typeface="+mn-lt"/>
            </a:endParaRPr>
          </a:p>
          <a:p>
            <a:pPr marL="1657350" lvl="3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then, deals with the subproject parallelly and integrated them into a deliverable system.</a:t>
            </a:r>
            <a:endParaRPr lang="en-US" dirty="0">
              <a:latin typeface="+mn-lt"/>
            </a:endParaRPr>
          </a:p>
          <a:p>
            <a:pPr marL="971550" lvl="2" indent="0" algn="just">
              <a:buClr>
                <a:schemeClr val="bg2"/>
              </a:buClr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  <p:sp>
        <p:nvSpPr>
          <p:cNvPr id="7" name="Content Placeholder 2"/>
          <p:cNvSpPr txBox="1"/>
          <p:nvPr/>
        </p:nvSpPr>
        <p:spPr>
          <a:xfrm>
            <a:off x="2453275" y="3143438"/>
            <a:ext cx="4398099" cy="1661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Pros:</a:t>
            </a:r>
            <a:endParaRPr lang="en-US" sz="1600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reduce time delays</a:t>
            </a:r>
            <a:endParaRPr lang="en-US" sz="1400" dirty="0">
              <a:latin typeface="+mn-lt"/>
            </a:endParaRPr>
          </a:p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Cons:</a:t>
            </a:r>
            <a:endParaRPr lang="en-US" sz="1200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latin typeface="+mn-lt"/>
              </a:rPr>
              <a:t>requires significant dividing and integration effort.</a:t>
            </a:r>
            <a:endParaRPr lang="en-US" sz="1400" dirty="0">
              <a:latin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RAD…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232452"/>
            <a:ext cx="10525469" cy="5043620"/>
          </a:xfrm>
        </p:spPr>
        <p:txBody>
          <a:bodyPr>
            <a:normAutofit/>
          </a:bodyPr>
          <a:lstStyle/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Rapid Application Development: - addresses both the weaknesses of the structured development methodologies by: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get some part of the system developed quickly into the hands of the users.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recommend using special techniques and computer tools to speed up the analysis, design, and implementation phases. Example:</a:t>
            </a:r>
            <a:endParaRPr lang="en-US" dirty="0">
              <a:latin typeface="+mn-lt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computer-aided software engineering (CASE) tools, </a:t>
            </a:r>
            <a:endParaRPr lang="en-US" dirty="0">
              <a:latin typeface="+mn-lt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joint application design (JAD) sessions, </a:t>
            </a:r>
            <a:endParaRPr lang="en-US" dirty="0">
              <a:latin typeface="+mn-lt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fourth-generation or visual programming languages that simplify and speed up programming, </a:t>
            </a:r>
            <a:endParaRPr lang="en-US" dirty="0">
              <a:latin typeface="+mn-lt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and code generators that automatically produce programs from design specifications.</a:t>
            </a:r>
            <a:endParaRPr lang="en-US" dirty="0">
              <a:latin typeface="+mn-lt"/>
            </a:endParaRPr>
          </a:p>
          <a:p>
            <a:pPr marL="971550" lvl="2" indent="0" algn="just">
              <a:buClr>
                <a:schemeClr val="bg2"/>
              </a:buClr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232452"/>
            <a:ext cx="10525469" cy="5043620"/>
          </a:xfrm>
        </p:spPr>
        <p:txBody>
          <a:bodyPr>
            <a:normAutofit/>
          </a:bodyPr>
          <a:lstStyle/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Phase-development methodology: - </a:t>
            </a:r>
            <a:r>
              <a:rPr lang="en-US" sz="1800" dirty="0">
                <a:latin typeface="+mn-lt"/>
              </a:rPr>
              <a:t>breaks an overall system into a series of versions that are developed sequentially.</a:t>
            </a:r>
            <a:endParaRPr lang="en-US" dirty="0">
              <a:latin typeface="+mn-lt"/>
            </a:endParaRPr>
          </a:p>
          <a:p>
            <a:pPr marL="971550" lvl="2" indent="0" algn="just">
              <a:buClr>
                <a:schemeClr val="bg2"/>
              </a:buClr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1026" y="1759226"/>
            <a:ext cx="6867938" cy="4646056"/>
          </a:xfrm>
          <a:prstGeom prst="rect">
            <a:avLst/>
          </a:prstGeom>
        </p:spPr>
      </p:pic>
      <p:sp>
        <p:nvSpPr>
          <p:cNvPr id="7" name="Content Placeholder 2"/>
          <p:cNvSpPr txBox="1"/>
          <p:nvPr/>
        </p:nvSpPr>
        <p:spPr>
          <a:xfrm>
            <a:off x="1073495" y="2087216"/>
            <a:ext cx="3657531" cy="3814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Pros</a:t>
            </a:r>
            <a:endParaRPr lang="en-US" dirty="0">
              <a:latin typeface="+mn-lt"/>
            </a:endParaRPr>
          </a:p>
          <a:p>
            <a:pPr marL="800100" lvl="1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Users quickly get a working system in to their hands.</a:t>
            </a:r>
            <a:endParaRPr lang="en-US" sz="1600" dirty="0">
              <a:latin typeface="+mn-lt"/>
            </a:endParaRPr>
          </a:p>
          <a:p>
            <a:pPr marL="800100" lvl="1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Efficient in identifying unanticipated requirements</a:t>
            </a:r>
            <a:r>
              <a:rPr lang="en-US" dirty="0">
                <a:latin typeface="+mn-lt"/>
              </a:rPr>
              <a:t>.</a:t>
            </a:r>
            <a:endParaRPr lang="en-US" dirty="0">
              <a:latin typeface="+mn-lt"/>
            </a:endParaRPr>
          </a:p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Cons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Managing users expectations</a:t>
            </a:r>
            <a:r>
              <a:rPr lang="en-US" dirty="0">
                <a:latin typeface="+mn-lt"/>
              </a:rPr>
              <a:t>.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232452"/>
            <a:ext cx="10525469" cy="5043620"/>
          </a:xfrm>
        </p:spPr>
        <p:txBody>
          <a:bodyPr>
            <a:normAutofit/>
          </a:bodyPr>
          <a:lstStyle/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Prototype-development methodology: -</a:t>
            </a:r>
            <a:r>
              <a:rPr lang="en-US" sz="1800" dirty="0">
                <a:latin typeface="+mn-lt"/>
              </a:rPr>
              <a:t> performs the analysis, design, and implementation phases concurrently, and all three phases are performed repeatedly in a cycle until the system is completed.</a:t>
            </a:r>
            <a:endParaRPr lang="en-US" sz="1800" dirty="0">
              <a:latin typeface="+mn-lt"/>
            </a:endParaRPr>
          </a:p>
          <a:p>
            <a:pPr marL="514350" lvl="1" indent="0" algn="just">
              <a:buClr>
                <a:schemeClr val="bg2"/>
              </a:buClr>
              <a:buNone/>
            </a:pPr>
            <a:r>
              <a:rPr lang="en-US" sz="1600" dirty="0">
                <a:latin typeface="+mn-lt"/>
              </a:rPr>
              <a:t>A system prototypes are generated several times, until acceptable prototype is produced.</a:t>
            </a:r>
            <a:endParaRPr lang="en-US" sz="1600" dirty="0">
              <a:latin typeface="+mn-lt"/>
            </a:endParaRPr>
          </a:p>
          <a:p>
            <a:pPr marL="971550" lvl="2" indent="0" algn="just">
              <a:buClr>
                <a:schemeClr val="bg2"/>
              </a:buClr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  <p:sp>
        <p:nvSpPr>
          <p:cNvPr id="7" name="Content Placeholder 2"/>
          <p:cNvSpPr txBox="1"/>
          <p:nvPr/>
        </p:nvSpPr>
        <p:spPr>
          <a:xfrm>
            <a:off x="1073495" y="2590801"/>
            <a:ext cx="3657531" cy="3814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Pros</a:t>
            </a:r>
            <a:endParaRPr lang="en-US" dirty="0">
              <a:latin typeface="+mn-lt"/>
            </a:endParaRPr>
          </a:p>
          <a:p>
            <a:pPr marL="800100" lvl="1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Focused more on functional requirements.</a:t>
            </a:r>
            <a:endParaRPr lang="en-US" dirty="0">
              <a:latin typeface="+mn-lt"/>
            </a:endParaRPr>
          </a:p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Cons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Managing users expectations</a:t>
            </a:r>
            <a:r>
              <a:rPr lang="en-US" dirty="0">
                <a:latin typeface="+mn-lt"/>
              </a:rPr>
              <a:t>.</a:t>
            </a:r>
            <a:endParaRPr lang="en-US" dirty="0">
              <a:latin typeface="+mn-lt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1026" y="2421764"/>
            <a:ext cx="6867938" cy="38543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232452"/>
            <a:ext cx="10525469" cy="5043620"/>
          </a:xfrm>
        </p:spPr>
        <p:txBody>
          <a:bodyPr>
            <a:normAutofit/>
          </a:bodyPr>
          <a:lstStyle/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Throwaway prototype-development methodology:-</a:t>
            </a:r>
            <a:r>
              <a:rPr lang="en-US" sz="1800" dirty="0">
                <a:latin typeface="+mn-lt"/>
              </a:rPr>
              <a:t> similar to prototyping-based methodologies since it includes the development of prototypes. </a:t>
            </a:r>
            <a:endParaRPr lang="en-US" sz="1800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However, throwaway prototypes are done at a different point in the SDLC.</a:t>
            </a:r>
            <a:endParaRPr lang="en-US" sz="1600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In throwaway prototype-development, instead of a system prototype, a design prototype is recursively created.</a:t>
            </a:r>
            <a:endParaRPr lang="en-US" sz="1600" dirty="0">
              <a:latin typeface="+mn-lt"/>
            </a:endParaRPr>
          </a:p>
          <a:p>
            <a:pPr marL="971550" lvl="2" indent="0" algn="just">
              <a:buClr>
                <a:schemeClr val="bg2"/>
              </a:buClr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  <p:sp>
        <p:nvSpPr>
          <p:cNvPr id="7" name="Content Placeholder 2"/>
          <p:cNvSpPr txBox="1"/>
          <p:nvPr/>
        </p:nvSpPr>
        <p:spPr>
          <a:xfrm>
            <a:off x="1073495" y="3339548"/>
            <a:ext cx="3657531" cy="3065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Pros</a:t>
            </a:r>
            <a:endParaRPr lang="en-US" dirty="0">
              <a:latin typeface="+mn-lt"/>
            </a:endParaRPr>
          </a:p>
          <a:p>
            <a:pPr marL="800100" lvl="1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Used to develop more stable system.</a:t>
            </a:r>
            <a:endParaRPr lang="en-US" dirty="0">
              <a:latin typeface="+mn-lt"/>
            </a:endParaRPr>
          </a:p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Cons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Managing users expectations</a:t>
            </a:r>
            <a:r>
              <a:rPr lang="en-US" dirty="0">
                <a:latin typeface="+mn-lt"/>
              </a:rPr>
              <a:t>.</a:t>
            </a:r>
            <a:endParaRPr lang="en-US" dirty="0">
              <a:latin typeface="+mn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1026" y="2641532"/>
            <a:ext cx="6772736" cy="36345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Agile…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232452"/>
            <a:ext cx="10525469" cy="5043620"/>
          </a:xfrm>
        </p:spPr>
        <p:txBody>
          <a:bodyPr>
            <a:normAutofit lnSpcReduction="10000"/>
          </a:bodyPr>
          <a:lstStyle/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Agile development methodologies are based on the agile manifesto and a set of twelve principles.</a:t>
            </a:r>
            <a:endParaRPr lang="en-US" dirty="0">
              <a:latin typeface="+mn-lt"/>
            </a:endParaRPr>
          </a:p>
          <a:p>
            <a:pPr marL="1314450" lvl="2" indent="-34290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+mn-lt"/>
              </a:rPr>
              <a:t>early and continuously delivery to satisfy customers.</a:t>
            </a:r>
            <a:endParaRPr lang="en-US" dirty="0">
              <a:latin typeface="+mn-lt"/>
            </a:endParaRPr>
          </a:p>
          <a:p>
            <a:pPr marL="1314450" lvl="2" indent="-34290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+mn-lt"/>
              </a:rPr>
              <a:t>adapting requirement changes at any level.</a:t>
            </a:r>
            <a:endParaRPr lang="en-US" dirty="0">
              <a:latin typeface="+mn-lt"/>
            </a:endParaRPr>
          </a:p>
          <a:p>
            <a:pPr marL="1314450" lvl="2" indent="-34290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+mn-lt"/>
              </a:rPr>
              <a:t>Delivering a working software frequently to the customer.</a:t>
            </a:r>
            <a:endParaRPr lang="en-US" dirty="0">
              <a:latin typeface="+mn-lt"/>
            </a:endParaRPr>
          </a:p>
          <a:p>
            <a:pPr marL="1314450" lvl="2" indent="-34290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+mn-lt"/>
              </a:rPr>
              <a:t>Customers and developers work together.</a:t>
            </a:r>
            <a:endParaRPr lang="en-US" dirty="0">
              <a:latin typeface="+mn-lt"/>
            </a:endParaRPr>
          </a:p>
          <a:p>
            <a:pPr marL="1314450" lvl="2" indent="-34290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+mn-lt"/>
              </a:rPr>
              <a:t>individual based solutions.</a:t>
            </a:r>
            <a:endParaRPr lang="en-US" dirty="0">
              <a:latin typeface="+mn-lt"/>
            </a:endParaRPr>
          </a:p>
          <a:p>
            <a:pPr marL="1314450" lvl="2" indent="-34290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+mn-lt"/>
              </a:rPr>
              <a:t>face-to-face communication as an efficient and effective method of gathering requirements.</a:t>
            </a:r>
            <a:endParaRPr lang="en-US" dirty="0">
              <a:latin typeface="+mn-lt"/>
            </a:endParaRPr>
          </a:p>
          <a:p>
            <a:pPr marL="1314450" lvl="2" indent="-34290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+mn-lt"/>
              </a:rPr>
              <a:t>The primary measure of progress is delivering executing software.</a:t>
            </a:r>
            <a:endParaRPr lang="en-US" dirty="0">
              <a:latin typeface="+mn-lt"/>
            </a:endParaRPr>
          </a:p>
          <a:p>
            <a:pPr marL="1314450" lvl="2" indent="-34290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+mn-lt"/>
              </a:rPr>
              <a:t>Both customers and developers should work at a pace that is sustainable. Equal burden.</a:t>
            </a:r>
            <a:endParaRPr lang="en-US" dirty="0">
              <a:latin typeface="+mn-lt"/>
            </a:endParaRPr>
          </a:p>
          <a:p>
            <a:pPr marL="1314450" lvl="2" indent="-34290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+mn-lt"/>
              </a:rPr>
              <a:t>Agility is heightened through attention to both technical excellence and good design.</a:t>
            </a:r>
            <a:endParaRPr lang="en-US" dirty="0">
              <a:latin typeface="+mn-lt"/>
            </a:endParaRPr>
          </a:p>
          <a:p>
            <a:pPr marL="1314450" lvl="2" indent="-34290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+mn-lt"/>
              </a:rPr>
              <a:t>Simplicity, the avoidance of unnecessary work, is essential.</a:t>
            </a:r>
            <a:endParaRPr lang="en-US" dirty="0">
              <a:latin typeface="+mn-lt"/>
            </a:endParaRPr>
          </a:p>
          <a:p>
            <a:pPr marL="1314450" lvl="2" indent="-342900" algn="just"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+mn-lt"/>
              </a:rPr>
              <a:t>Self-organizing teams develop the best architectures, requirements, and designs.</a:t>
            </a:r>
            <a:endParaRPr lang="en-US" dirty="0">
              <a:latin typeface="+mn-lt"/>
            </a:endParaRPr>
          </a:p>
          <a:p>
            <a:pPr marL="1314450" lvl="2" indent="-342900" algn="just">
              <a:buClr>
                <a:schemeClr val="tx1"/>
              </a:buClr>
              <a:buFont typeface="+mj-lt"/>
              <a:buAutoNum type="arabicPeriod"/>
            </a:pPr>
            <a:r>
              <a:rPr lang="en-US" sz="1600" dirty="0">
                <a:latin typeface="+mn-lt"/>
              </a:rPr>
              <a:t>Development teams regularly reflect on how to improve their development processes.</a:t>
            </a:r>
            <a:endParaRPr lang="en-US" sz="16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232452"/>
            <a:ext cx="10525469" cy="5043620"/>
          </a:xfrm>
        </p:spPr>
        <p:txBody>
          <a:bodyPr>
            <a:normAutofit/>
          </a:bodyPr>
          <a:lstStyle/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Agile development methodologies:- </a:t>
            </a:r>
            <a:r>
              <a:rPr lang="en-US" sz="1800" dirty="0">
                <a:latin typeface="+mn-lt"/>
              </a:rPr>
              <a:t>restructures the system-development process</a:t>
            </a:r>
            <a:endParaRPr lang="en-US" sz="1800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by eliminating much of the modeling and documentation overhead and the time spent on those tasks.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9715" y="2193969"/>
            <a:ext cx="5347546" cy="3938114"/>
          </a:xfrm>
          <a:prstGeom prst="rect">
            <a:avLst/>
          </a:prstGeom>
        </p:spPr>
      </p:pic>
      <p:sp>
        <p:nvSpPr>
          <p:cNvPr id="7" name="Content Placeholder 2"/>
          <p:cNvSpPr txBox="1"/>
          <p:nvPr/>
        </p:nvSpPr>
        <p:spPr>
          <a:xfrm>
            <a:off x="1066872" y="2193969"/>
            <a:ext cx="5989914" cy="4234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571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panose="05040102010807070707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Agile criticized for: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Outsourcing</a:t>
            </a:r>
            <a:r>
              <a:rPr lang="en-US" dirty="0">
                <a:latin typeface="+mn-lt"/>
              </a:rPr>
              <a:t>/ </a:t>
            </a:r>
            <a:r>
              <a:rPr lang="en-US" sz="1600" dirty="0">
                <a:latin typeface="+mn-lt"/>
              </a:rPr>
              <a:t>subcontracting is unrealistic in Agile.</a:t>
            </a:r>
            <a:endParaRPr lang="en-US" sz="1600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Lack of actual documentation/ difficult for auditability</a:t>
            </a:r>
            <a:endParaRPr lang="en-US" sz="1600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Not promising for large mission-critical systems.</a:t>
            </a:r>
            <a:endParaRPr lang="en-US" sz="1600" dirty="0">
              <a:latin typeface="+mn-lt"/>
            </a:endParaRPr>
          </a:p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 two well-known agile methodologies are: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Extreme Programming(XP)-methodology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Scrum-methodology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What </a:t>
            </a:r>
            <a:r>
              <a:rPr lang="en-US" sz="2800" dirty="0">
                <a:solidFill>
                  <a:schemeClr val="accent1"/>
                </a:solidFill>
                <a:latin typeface="Arial Black" panose="020B0A04020102020204" pitchFamily="34" charset="0"/>
              </a:rPr>
              <a:t>methodology to use?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232452"/>
            <a:ext cx="10525469" cy="5043620"/>
          </a:xfrm>
        </p:spPr>
        <p:txBody>
          <a:bodyPr>
            <a:normAutofit/>
          </a:bodyPr>
          <a:lstStyle/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Choosing a SDLC-methodology is not simple, because no methodology is perfect in every domain.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494" y="2012186"/>
            <a:ext cx="10525469" cy="33748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The unified process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232452"/>
            <a:ext cx="10525469" cy="5043620"/>
          </a:xfrm>
        </p:spPr>
        <p:txBody>
          <a:bodyPr>
            <a:normAutofit/>
          </a:bodyPr>
          <a:lstStyle/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 unified process:-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31F20"/>
                </a:solidFill>
                <a:latin typeface="MinionPro-Regular"/>
              </a:rPr>
              <a:t>is a specific methodology that maps out when and how to use the various UML techniques in OOD.</a:t>
            </a:r>
            <a:endParaRPr lang="en-US" dirty="0">
              <a:solidFill>
                <a:srgbClr val="231F20"/>
              </a:solidFill>
              <a:latin typeface="MinionPro-Regular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31F20"/>
                </a:solidFill>
                <a:latin typeface="MinionPro-Regular"/>
              </a:rPr>
              <a:t>Its a two-dimensional systems development process described by a set of phases and workflows.</a:t>
            </a:r>
            <a:endParaRPr lang="en-US" dirty="0">
              <a:solidFill>
                <a:srgbClr val="231F20"/>
              </a:solidFill>
              <a:latin typeface="MinionPro-Regula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0" y="2914015"/>
            <a:ext cx="9885045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232452"/>
            <a:ext cx="10525469" cy="5043620"/>
          </a:xfrm>
        </p:spPr>
        <p:txBody>
          <a:bodyPr>
            <a:normAutofit/>
          </a:bodyPr>
          <a:lstStyle/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 phases of the unified process are: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Inception:</a:t>
            </a:r>
            <a:endParaRPr lang="en-US" dirty="0">
              <a:latin typeface="+mn-lt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mainly concerns on specifying a scope of the project, developing a business plan and feasibility analysis of the project.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Elaboration:</a:t>
            </a:r>
            <a:endParaRPr lang="en-US" dirty="0">
              <a:latin typeface="+mn-lt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involves requirement analysis, system analysis and system design workflows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Construction:</a:t>
            </a:r>
            <a:endParaRPr lang="en-US" dirty="0">
              <a:latin typeface="+mn-lt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focuses heavily on programming/implementing the evolving information system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and Transition:</a:t>
            </a:r>
            <a:endParaRPr lang="en-US" dirty="0">
              <a:latin typeface="+mn-lt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focus is on the testing and deployment workflows.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232452"/>
            <a:ext cx="10525469" cy="5043620"/>
          </a:xfrm>
        </p:spPr>
        <p:txBody>
          <a:bodyPr>
            <a:normAutofit/>
          </a:bodyPr>
          <a:lstStyle/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 workflows of the unified process are: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Business Modeling Workflow:-</a:t>
            </a:r>
            <a:endParaRPr lang="en-US" sz="2000" i="1" dirty="0">
              <a:solidFill>
                <a:srgbClr val="FF0000"/>
              </a:solidFill>
              <a:latin typeface="Bradley Hand ITC" panose="03070402050302030203" pitchFamily="66" charset="0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Planning (time and resource), requirement identification and gathering, setting scope and feasibility analysis are done.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Requirements Workflow:- </a:t>
            </a:r>
            <a:endParaRPr lang="en-US" dirty="0">
              <a:latin typeface="+mn-lt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User requirement specification (as functional and non-functional)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Analysis Workflow:</a:t>
            </a:r>
            <a:endParaRPr lang="en-US" dirty="0">
              <a:latin typeface="+mn-lt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UML specification of the behavior of the proposed system (use-case, sequence, activity diagrams and etc.) 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Design Workflow:</a:t>
            </a:r>
            <a:endParaRPr lang="en-US" dirty="0">
              <a:latin typeface="+mn-lt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UML specification of the structure and layout of the information system.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Implementation Workflow: 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Testing Workflow: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Deployment Workflow</a:t>
            </a:r>
            <a:endParaRPr lang="en-US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UML…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3495" y="1232452"/>
            <a:ext cx="10525469" cy="5043620"/>
          </a:xfrm>
        </p:spPr>
        <p:txBody>
          <a:bodyPr>
            <a:normAutofit/>
          </a:bodyPr>
          <a:lstStyle/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Unified Modeling Language: - </a:t>
            </a:r>
            <a:r>
              <a:rPr lang="en-US" sz="1800" dirty="0">
                <a:latin typeface="+mn-lt"/>
              </a:rPr>
              <a:t>provides:</a:t>
            </a:r>
            <a:endParaRPr lang="en-US" sz="1800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a common vocabulary of object-oriented terms and diagramming techniques </a:t>
            </a:r>
            <a:endParaRPr lang="en-US" sz="1600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</a:rPr>
              <a:t>that are rich enough to model any system development project from analysis through implementation.</a:t>
            </a:r>
            <a:endParaRPr lang="en-US" sz="1600" dirty="0">
              <a:latin typeface="+mn-lt"/>
            </a:endParaRPr>
          </a:p>
          <a:p>
            <a:pPr marL="400050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UML defines a set of fifteen diagramming techniques used to model a system. </a:t>
            </a:r>
            <a:endParaRPr lang="en-US" dirty="0">
              <a:latin typeface="+mn-lt"/>
            </a:endParaRPr>
          </a:p>
          <a:p>
            <a:pPr marL="800100" lvl="1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The diagrams are broken into two major groupings: </a:t>
            </a:r>
            <a:endParaRPr lang="en-US" dirty="0">
              <a:latin typeface="+mn-lt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Structure diagram that depicts structure of a system.</a:t>
            </a:r>
            <a:endParaRPr lang="en-US" dirty="0">
              <a:latin typeface="+mn-lt"/>
            </a:endParaRPr>
          </a:p>
          <a:p>
            <a:pPr marL="1657350" lvl="3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31F20"/>
                </a:solidFill>
                <a:latin typeface="MinionPro-Regular"/>
              </a:rPr>
              <a:t>Structure diagrams provide a way to represent the data and static relationships in an information system.</a:t>
            </a:r>
            <a:endParaRPr lang="en-US" sz="1600" dirty="0">
              <a:solidFill>
                <a:srgbClr val="231F20"/>
              </a:solidFill>
              <a:latin typeface="MinionPro-Regular"/>
            </a:endParaRPr>
          </a:p>
          <a:p>
            <a:pPr marL="1200150" lvl="2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Behavioral diagram that depicts behaviors of a system.</a:t>
            </a:r>
            <a:endParaRPr lang="en-US" dirty="0">
              <a:latin typeface="+mn-lt"/>
            </a:endParaRPr>
          </a:p>
          <a:p>
            <a:pPr marL="1657350" lvl="3" algn="just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baseline="0" dirty="0">
                <a:solidFill>
                  <a:srgbClr val="231F20"/>
                </a:solidFill>
                <a:latin typeface="MinionPro-Regular"/>
              </a:rPr>
              <a:t>Supports in modeling the dynamic behavior of individual objects throughout their lifetime and the functional requirements of an evolving information </a:t>
            </a:r>
            <a:r>
              <a:rPr lang="en-US" sz="1600" dirty="0">
                <a:solidFill>
                  <a:srgbClr val="231F20"/>
                </a:solidFill>
                <a:latin typeface="MinionPro-Regular"/>
              </a:rPr>
              <a:t>system.</a:t>
            </a:r>
            <a:endParaRPr lang="en-US" sz="1600" dirty="0">
              <a:solidFill>
                <a:srgbClr val="231F20"/>
              </a:solidFill>
              <a:latin typeface="MinionPro-Regula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Structural </a:t>
            </a:r>
            <a:r>
              <a:rPr lang="en-US" sz="2800" dirty="0">
                <a:solidFill>
                  <a:schemeClr val="accent1"/>
                </a:solidFill>
                <a:latin typeface="Arial Black" panose="020B0A04020102020204" pitchFamily="34" charset="0"/>
              </a:rPr>
              <a:t>diagrams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548" y="1273573"/>
            <a:ext cx="10465904" cy="51317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9734"/>
          </a:xfrm>
        </p:spPr>
        <p:txBody>
          <a:bodyPr/>
          <a:lstStyle/>
          <a:p>
            <a:r>
              <a:rPr lang="en-US" sz="4800" dirty="0">
                <a:solidFill>
                  <a:schemeClr val="accent1"/>
                </a:solidFill>
                <a:latin typeface="Arial Black" panose="020B0A04020102020204" pitchFamily="34" charset="0"/>
              </a:rPr>
              <a:t>Behavioral </a:t>
            </a:r>
            <a:r>
              <a:rPr lang="en-US" sz="2800" dirty="0">
                <a:solidFill>
                  <a:schemeClr val="accent1"/>
                </a:solidFill>
                <a:latin typeface="Arial Black" panose="020B0A04020102020204" pitchFamily="34" charset="0"/>
              </a:rPr>
              <a:t>diagrams</a:t>
            </a:r>
            <a:endParaRPr lang="en-US" sz="48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41C192-FEEC-45D7-9957-4FC0FDFFBB57}" type="slidenum">
              <a:rPr lang="en-US" smtClean="0"/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053548" y="1273574"/>
            <a:ext cx="10465904" cy="4640367"/>
            <a:chOff x="1053548" y="1273574"/>
            <a:chExt cx="10465904" cy="464036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1"/>
            <a:srcRect b="90730"/>
            <a:stretch>
              <a:fillRect/>
            </a:stretch>
          </p:blipFill>
          <p:spPr>
            <a:xfrm>
              <a:off x="1053548" y="1273574"/>
              <a:ext cx="10465904" cy="475714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3548" y="1749288"/>
              <a:ext cx="10465904" cy="41646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Ion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onstantia-Franklin Gothic Book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10455</Words>
  <Application>WPS Presentation</Application>
  <PresentationFormat>Widescreen</PresentationFormat>
  <Paragraphs>308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0" baseType="lpstr">
      <vt:lpstr>Arial</vt:lpstr>
      <vt:lpstr>SimSun</vt:lpstr>
      <vt:lpstr>Wingdings</vt:lpstr>
      <vt:lpstr>Wingdings 3</vt:lpstr>
      <vt:lpstr>Arial</vt:lpstr>
      <vt:lpstr>Arial Black</vt:lpstr>
      <vt:lpstr>MinionPro-Regular</vt:lpstr>
      <vt:lpstr>Segoe Print</vt:lpstr>
      <vt:lpstr>MinionPro-It</vt:lpstr>
      <vt:lpstr>Franklin Gothic Book</vt:lpstr>
      <vt:lpstr>Microsoft YaHei</vt:lpstr>
      <vt:lpstr>Arial Unicode MS</vt:lpstr>
      <vt:lpstr>Constantia</vt:lpstr>
      <vt:lpstr>Calibri</vt:lpstr>
      <vt:lpstr>Bradley Hand ITC</vt:lpstr>
      <vt:lpstr>Ion</vt:lpstr>
      <vt:lpstr>PowerPoint 演示文稿</vt:lpstr>
      <vt:lpstr>Software Eng...</vt:lpstr>
      <vt:lpstr>SDLC…</vt:lpstr>
      <vt:lpstr>…</vt:lpstr>
      <vt:lpstr>…</vt:lpstr>
      <vt:lpstr>SDLC-Methodologies</vt:lpstr>
      <vt:lpstr>Object oriented system development methodology</vt:lpstr>
      <vt:lpstr>…</vt:lpstr>
      <vt:lpstr>…</vt:lpstr>
      <vt:lpstr>Structured…</vt:lpstr>
      <vt:lpstr>…</vt:lpstr>
      <vt:lpstr>RAD…</vt:lpstr>
      <vt:lpstr>…</vt:lpstr>
      <vt:lpstr>…</vt:lpstr>
      <vt:lpstr>…</vt:lpstr>
      <vt:lpstr>Agile…</vt:lpstr>
      <vt:lpstr>…</vt:lpstr>
      <vt:lpstr>What methodology to use?</vt:lpstr>
      <vt:lpstr>The unified process</vt:lpstr>
      <vt:lpstr>…</vt:lpstr>
      <vt:lpstr>…</vt:lpstr>
      <vt:lpstr>UML…</vt:lpstr>
      <vt:lpstr>Structural diagrams</vt:lpstr>
      <vt:lpstr>Behavioral diagrams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Teshager Kassa</dc:creator>
  <cp:lastModifiedBy>Leul Tadele</cp:lastModifiedBy>
  <cp:revision>141</cp:revision>
  <dcterms:created xsi:type="dcterms:W3CDTF">2024-11-01T12:11:00Z</dcterms:created>
  <dcterms:modified xsi:type="dcterms:W3CDTF">2024-12-14T08:15:07Z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F5761CBE31B54550B8D33E428CD1FD89_12</vt:lpwstr>
  </property>
  <property fmtid="{D5CDD505-2E9C-101B-9397-08002B2CF9AE}" pid="3" name="KSOProductBuildVer">
    <vt:lpwstr>1033-12.2.0.19307</vt:lpwstr>
  </property>
</Properties>
</file>